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24"/>
  </p:normalViewPr>
  <p:slideViewPr>
    <p:cSldViewPr snapToGrid="0">
      <p:cViewPr>
        <p:scale>
          <a:sx n="81" d="100"/>
          <a:sy n="81" d="100"/>
        </p:scale>
        <p:origin x="1656"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622D5-96DE-EB4E-9285-3901833590FB}" type="datetimeFigureOut">
              <a:rPr lang="en-IL" smtClean="0"/>
              <a:t>06/07/2025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5EDF7-E9B1-3342-A01D-8D189E34F3EA}" type="slidenum">
              <a:rPr lang="en-IL" smtClean="0"/>
              <a:t>‹#›</a:t>
            </a:fld>
            <a:endParaRPr lang="en-IL"/>
          </a:p>
        </p:txBody>
      </p:sp>
    </p:spTree>
    <p:extLst>
      <p:ext uri="{BB962C8B-B14F-4D97-AF65-F5344CB8AC3E}">
        <p14:creationId xmlns:p14="http://schemas.microsoft.com/office/powerpoint/2010/main" val="33586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7DC5EDF7-E9B1-3342-A01D-8D189E34F3EA}" type="slidenum">
              <a:rPr lang="en-IL" smtClean="0"/>
              <a:t>3</a:t>
            </a:fld>
            <a:endParaRPr lang="en-IL"/>
          </a:p>
        </p:txBody>
      </p:sp>
    </p:spTree>
    <p:extLst>
      <p:ext uri="{BB962C8B-B14F-4D97-AF65-F5344CB8AC3E}">
        <p14:creationId xmlns:p14="http://schemas.microsoft.com/office/powerpoint/2010/main" val="1647209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19BF-B8CC-9760-E364-717AA72BD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9B5FAF17-6BC4-5BC4-9BB3-9149842AD4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F7F05C1-8ED1-40DB-3241-5563AA6F42CA}"/>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7D3DCA5F-A5F5-ECE3-A7D8-D35192FEA49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A5A00C2-6C4B-5B0D-A7D1-968BBF68D785}"/>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2332306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72ABA-7F63-3701-E382-C0A1EBDD494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1692898-0A72-C0D8-8B89-467EA0252A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98B0D1B-7A6D-0348-0AB0-695B667C09BB}"/>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B35A87D4-8540-D541-EBCC-C962DE8B4AE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C81972A-3AD4-AF6E-034D-15ECADD922DC}"/>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2822734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461C-3D7C-2567-FF54-4B8531CBB9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A566152C-8CE7-8E70-F8F5-16C9777118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94A348-9B0E-6A77-4021-1B6363C6AB52}"/>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D08075B6-EE7F-034B-3548-EDDA3BAC6C1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B86506-896F-0708-26BD-8280F95CF33F}"/>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379920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7DDE-A062-87CA-2E12-5D0CE3D365E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A9B9C9A-860D-89D1-AACD-85FACED4B8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8568DA1B-3456-67DF-01AE-409FBADE04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9084B1DD-79B0-ABB4-2106-7A9A0DF2DE01}"/>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6" name="Footer Placeholder 5">
            <a:extLst>
              <a:ext uri="{FF2B5EF4-FFF2-40B4-BE49-F238E27FC236}">
                <a16:creationId xmlns:a16="http://schemas.microsoft.com/office/drawing/2014/main" id="{8693FB60-1596-9CD1-523D-04E00AFE6F0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69E11E5-7714-BCDA-86D2-B64BFD38F0C8}"/>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2718929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2B6F6-7151-DE20-4199-DAC4E54753B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DC551F03-0C06-5914-77A5-0159CC2960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5DE2AB-76D7-9B55-94AD-D74FFD901F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CA74AAA5-A126-C41D-B375-B6B90C55EB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AD3ED3-8C17-6C4B-9CCE-BED41D58E5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5042FD21-7377-5EE8-325B-584EEF13AEFA}"/>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8" name="Footer Placeholder 7">
            <a:extLst>
              <a:ext uri="{FF2B5EF4-FFF2-40B4-BE49-F238E27FC236}">
                <a16:creationId xmlns:a16="http://schemas.microsoft.com/office/drawing/2014/main" id="{EDD2626B-A3C2-B852-D059-DFB96F373A4B}"/>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0542D33-231C-B701-BCC2-3D2C7F32A80A}"/>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555021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DB3B-F369-769F-9887-46889638934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E999A27-1D3E-594C-BB16-B972509C2894}"/>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4" name="Footer Placeholder 3">
            <a:extLst>
              <a:ext uri="{FF2B5EF4-FFF2-40B4-BE49-F238E27FC236}">
                <a16:creationId xmlns:a16="http://schemas.microsoft.com/office/drawing/2014/main" id="{520D4D36-4188-4EBC-8D89-1CE5C8E886A5}"/>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C20AD10-4E47-1438-F491-3D2837CD57EF}"/>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4212589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426FBF-1EEB-E6D4-F97F-BB85A9A1C899}"/>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3" name="Footer Placeholder 2">
            <a:extLst>
              <a:ext uri="{FF2B5EF4-FFF2-40B4-BE49-F238E27FC236}">
                <a16:creationId xmlns:a16="http://schemas.microsoft.com/office/drawing/2014/main" id="{B9375BAC-4162-8088-0480-384BA0D3A975}"/>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3E4E8EDE-9AE3-3E65-02AB-2F4134AE3B65}"/>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641224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0CFE-FAF5-327C-2D84-9F06E3B02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BE42243-ABE5-1136-8802-D1E0AED4C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7DAB11E-E7C9-C903-FB45-E40668B598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EC47EB-8170-EDDF-7508-9B950096BFF2}"/>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6" name="Footer Placeholder 5">
            <a:extLst>
              <a:ext uri="{FF2B5EF4-FFF2-40B4-BE49-F238E27FC236}">
                <a16:creationId xmlns:a16="http://schemas.microsoft.com/office/drawing/2014/main" id="{485AF108-DE87-765F-6F26-2CB2B5DA775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C43268D-F83C-17E5-87F7-F7E418C090F8}"/>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4003862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CE2C-D1A8-5828-50FF-DA93E0D99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F1975DEB-E42E-43C4-602E-523D50FCEC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40D75E2-1610-69F4-4167-E3A96DBF0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3A9F53-BA61-A452-3787-5904F968F8B7}"/>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6" name="Footer Placeholder 5">
            <a:extLst>
              <a:ext uri="{FF2B5EF4-FFF2-40B4-BE49-F238E27FC236}">
                <a16:creationId xmlns:a16="http://schemas.microsoft.com/office/drawing/2014/main" id="{E732F3FC-5EC9-E18B-CCEE-76F7B107617C}"/>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64CC6B6-56AB-4405-E3AE-CCCD0B0744AC}"/>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3969207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F013-713E-F7E0-9CE9-6A87530D6474}"/>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0410496C-B148-25D5-9686-42B7E7A4FA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B200F77-6199-8D8E-6AA9-9A89F41503CD}"/>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791020E5-CDD5-D8BF-D663-EEDE350612A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0D66593-79CA-D477-6B54-5F87CC5AD2F6}"/>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934606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852744-46E1-91E4-0E88-91063A65E0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F23310C-47FD-FA0C-7576-CBB5D80E46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AD56BA1-5E31-F3F0-1828-B6696518F2B1}"/>
              </a:ext>
            </a:extLst>
          </p:cNvPr>
          <p:cNvSpPr>
            <a:spLocks noGrp="1"/>
          </p:cNvSpPr>
          <p:nvPr>
            <p:ph type="dt" sz="half" idx="10"/>
          </p:nvPr>
        </p:nvSpPr>
        <p:spPr/>
        <p:txBody>
          <a:body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ACF1C2F0-9775-4370-D195-49EAF8275F0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9CB9C2-8EDB-879B-0C33-5CFF12FB782A}"/>
              </a:ext>
            </a:extLst>
          </p:cNvPr>
          <p:cNvSpPr>
            <a:spLocks noGrp="1"/>
          </p:cNvSpPr>
          <p:nvPr>
            <p:ph type="sldNum" sz="quarter" idx="12"/>
          </p:nvPr>
        </p:nvSpPr>
        <p:spPr/>
        <p:txBody>
          <a:bodyPr/>
          <a:lstStyle/>
          <a:p>
            <a:fld id="{453A765D-D088-644B-A59A-19456F515B5A}" type="slidenum">
              <a:rPr lang="en-IL" smtClean="0"/>
              <a:t>‹#›</a:t>
            </a:fld>
            <a:endParaRPr lang="en-IL"/>
          </a:p>
        </p:txBody>
      </p:sp>
    </p:spTree>
    <p:extLst>
      <p:ext uri="{BB962C8B-B14F-4D97-AF65-F5344CB8AC3E}">
        <p14:creationId xmlns:p14="http://schemas.microsoft.com/office/powerpoint/2010/main" val="2679181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F8B2B4-1783-0984-6376-3C545F1D8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7AFB35E-E30D-49EC-A88F-3F0851D474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8176B0C-5972-9791-5592-40C8C20F50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9988F5-5611-AE4D-8CCB-C18C32698BD8}" type="datetimeFigureOut">
              <a:rPr lang="en-IL" smtClean="0"/>
              <a:t>03/07/2025</a:t>
            </a:fld>
            <a:endParaRPr lang="en-IL"/>
          </a:p>
        </p:txBody>
      </p:sp>
      <p:sp>
        <p:nvSpPr>
          <p:cNvPr id="5" name="Footer Placeholder 4">
            <a:extLst>
              <a:ext uri="{FF2B5EF4-FFF2-40B4-BE49-F238E27FC236}">
                <a16:creationId xmlns:a16="http://schemas.microsoft.com/office/drawing/2014/main" id="{805B8BE0-CB0E-8016-D6C3-5C6B7C2CD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19610AF0-9ADE-D687-7CA0-78375B5302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3A765D-D088-644B-A59A-19456F515B5A}" type="slidenum">
              <a:rPr lang="en-IL" smtClean="0"/>
              <a:t>‹#›</a:t>
            </a:fld>
            <a:endParaRPr lang="en-IL"/>
          </a:p>
        </p:txBody>
      </p:sp>
    </p:spTree>
    <p:extLst>
      <p:ext uri="{BB962C8B-B14F-4D97-AF65-F5344CB8AC3E}">
        <p14:creationId xmlns:p14="http://schemas.microsoft.com/office/powerpoint/2010/main" val="2122157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7009B588-BB40-316F-CD5D-EA79A7591992}"/>
              </a:ext>
            </a:extLst>
          </p:cNvPr>
          <p:cNvGrpSpPr/>
          <p:nvPr/>
        </p:nvGrpSpPr>
        <p:grpSpPr>
          <a:xfrm>
            <a:off x="259492" y="305481"/>
            <a:ext cx="4992130" cy="3123519"/>
            <a:chOff x="259492" y="305481"/>
            <a:chExt cx="4992130" cy="3123519"/>
          </a:xfrm>
        </p:grpSpPr>
        <p:grpSp>
          <p:nvGrpSpPr>
            <p:cNvPr id="6" name="Group 5">
              <a:extLst>
                <a:ext uri="{FF2B5EF4-FFF2-40B4-BE49-F238E27FC236}">
                  <a16:creationId xmlns:a16="http://schemas.microsoft.com/office/drawing/2014/main" id="{5F16275E-D35D-85B2-6675-AA53C2DD949C}"/>
                </a:ext>
              </a:extLst>
            </p:cNvPr>
            <p:cNvGrpSpPr/>
            <p:nvPr/>
          </p:nvGrpSpPr>
          <p:grpSpPr>
            <a:xfrm rot="5400000">
              <a:off x="1519881" y="-227229"/>
              <a:ext cx="2384854" cy="4188940"/>
              <a:chOff x="2891481" y="1668162"/>
              <a:chExt cx="2384854" cy="4188940"/>
            </a:xfrm>
            <a:noFill/>
          </p:grpSpPr>
          <p:sp>
            <p:nvSpPr>
              <p:cNvPr id="4" name="Triangle 3">
                <a:extLst>
                  <a:ext uri="{FF2B5EF4-FFF2-40B4-BE49-F238E27FC236}">
                    <a16:creationId xmlns:a16="http://schemas.microsoft.com/office/drawing/2014/main" id="{EB32CD65-A252-1060-932D-31378E7EE866}"/>
                  </a:ext>
                </a:extLst>
              </p:cNvPr>
              <p:cNvSpPr/>
              <p:nvPr/>
            </p:nvSpPr>
            <p:spPr>
              <a:xfrm>
                <a:off x="2891481" y="1668162"/>
                <a:ext cx="2384854" cy="2224216"/>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riangle 4">
                <a:extLst>
                  <a:ext uri="{FF2B5EF4-FFF2-40B4-BE49-F238E27FC236}">
                    <a16:creationId xmlns:a16="http://schemas.microsoft.com/office/drawing/2014/main" id="{A3C9A5BC-FD11-222F-0F7E-ED14F66EC568}"/>
                  </a:ext>
                </a:extLst>
              </p:cNvPr>
              <p:cNvSpPr/>
              <p:nvPr/>
            </p:nvSpPr>
            <p:spPr>
              <a:xfrm flipV="1">
                <a:off x="2891481" y="3892377"/>
                <a:ext cx="2384854" cy="196472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7" name="TextBox 6">
              <a:extLst>
                <a:ext uri="{FF2B5EF4-FFF2-40B4-BE49-F238E27FC236}">
                  <a16:creationId xmlns:a16="http://schemas.microsoft.com/office/drawing/2014/main" id="{8C14C812-74A4-A678-2A0A-F6FA6D202752}"/>
                </a:ext>
              </a:extLst>
            </p:cNvPr>
            <p:cNvSpPr txBox="1"/>
            <p:nvPr/>
          </p:nvSpPr>
          <p:spPr>
            <a:xfrm>
              <a:off x="2384854" y="305481"/>
              <a:ext cx="469557" cy="369332"/>
            </a:xfrm>
            <a:prstGeom prst="rect">
              <a:avLst/>
            </a:prstGeom>
            <a:noFill/>
          </p:spPr>
          <p:txBody>
            <a:bodyPr wrap="square" rtlCol="0">
              <a:spAutoFit/>
            </a:bodyPr>
            <a:lstStyle/>
            <a:p>
              <a:r>
                <a:rPr lang="en-IL" dirty="0"/>
                <a:t>A</a:t>
              </a:r>
            </a:p>
          </p:txBody>
        </p:sp>
        <p:sp>
          <p:nvSpPr>
            <p:cNvPr id="8" name="TextBox 7">
              <a:extLst>
                <a:ext uri="{FF2B5EF4-FFF2-40B4-BE49-F238E27FC236}">
                  <a16:creationId xmlns:a16="http://schemas.microsoft.com/office/drawing/2014/main" id="{D182188A-4EEC-3D27-1120-AF4E81170B51}"/>
                </a:ext>
              </a:extLst>
            </p:cNvPr>
            <p:cNvSpPr txBox="1"/>
            <p:nvPr/>
          </p:nvSpPr>
          <p:spPr>
            <a:xfrm>
              <a:off x="4782065" y="1682575"/>
              <a:ext cx="469557" cy="369332"/>
            </a:xfrm>
            <a:prstGeom prst="rect">
              <a:avLst/>
            </a:prstGeom>
            <a:noFill/>
          </p:spPr>
          <p:txBody>
            <a:bodyPr wrap="square" rtlCol="0">
              <a:spAutoFit/>
            </a:bodyPr>
            <a:lstStyle/>
            <a:p>
              <a:r>
                <a:rPr lang="en-IL" dirty="0"/>
                <a:t>B</a:t>
              </a:r>
            </a:p>
          </p:txBody>
        </p:sp>
        <p:sp>
          <p:nvSpPr>
            <p:cNvPr id="9" name="TextBox 8">
              <a:extLst>
                <a:ext uri="{FF2B5EF4-FFF2-40B4-BE49-F238E27FC236}">
                  <a16:creationId xmlns:a16="http://schemas.microsoft.com/office/drawing/2014/main" id="{85043922-9495-C48B-D1C8-3301E83F9D3D}"/>
                </a:ext>
              </a:extLst>
            </p:cNvPr>
            <p:cNvSpPr txBox="1"/>
            <p:nvPr/>
          </p:nvSpPr>
          <p:spPr>
            <a:xfrm>
              <a:off x="2384854" y="3059668"/>
              <a:ext cx="469557" cy="369332"/>
            </a:xfrm>
            <a:prstGeom prst="rect">
              <a:avLst/>
            </a:prstGeom>
            <a:noFill/>
          </p:spPr>
          <p:txBody>
            <a:bodyPr wrap="square" rtlCol="0">
              <a:spAutoFit/>
            </a:bodyPr>
            <a:lstStyle/>
            <a:p>
              <a:r>
                <a:rPr lang="en-IL" dirty="0"/>
                <a:t>C</a:t>
              </a:r>
            </a:p>
          </p:txBody>
        </p:sp>
        <p:sp>
          <p:nvSpPr>
            <p:cNvPr id="10" name="TextBox 9">
              <a:extLst>
                <a:ext uri="{FF2B5EF4-FFF2-40B4-BE49-F238E27FC236}">
                  <a16:creationId xmlns:a16="http://schemas.microsoft.com/office/drawing/2014/main" id="{8F7BD663-F470-F839-9109-5E54B70DE594}"/>
                </a:ext>
              </a:extLst>
            </p:cNvPr>
            <p:cNvSpPr txBox="1"/>
            <p:nvPr/>
          </p:nvSpPr>
          <p:spPr>
            <a:xfrm>
              <a:off x="259492" y="1682575"/>
              <a:ext cx="469557" cy="369332"/>
            </a:xfrm>
            <a:prstGeom prst="rect">
              <a:avLst/>
            </a:prstGeom>
            <a:noFill/>
          </p:spPr>
          <p:txBody>
            <a:bodyPr wrap="square" rtlCol="0">
              <a:spAutoFit/>
            </a:bodyPr>
            <a:lstStyle/>
            <a:p>
              <a:r>
                <a:rPr lang="en-IL" dirty="0"/>
                <a:t>D</a:t>
              </a:r>
            </a:p>
          </p:txBody>
        </p:sp>
        <p:sp>
          <p:nvSpPr>
            <p:cNvPr id="18" name="TextBox 17">
              <a:extLst>
                <a:ext uri="{FF2B5EF4-FFF2-40B4-BE49-F238E27FC236}">
                  <a16:creationId xmlns:a16="http://schemas.microsoft.com/office/drawing/2014/main" id="{517B6F85-A577-2F21-B2D5-48D214028DB2}"/>
                </a:ext>
              </a:extLst>
            </p:cNvPr>
            <p:cNvSpPr txBox="1"/>
            <p:nvPr/>
          </p:nvSpPr>
          <p:spPr>
            <a:xfrm>
              <a:off x="2977979" y="1682575"/>
              <a:ext cx="852616" cy="369332"/>
            </a:xfrm>
            <a:prstGeom prst="rect">
              <a:avLst/>
            </a:prstGeom>
            <a:noFill/>
          </p:spPr>
          <p:txBody>
            <a:bodyPr wrap="square" rtlCol="0">
              <a:spAutoFit/>
            </a:bodyPr>
            <a:lstStyle/>
            <a:p>
              <a:pPr algn="ctr"/>
              <a:r>
                <a:rPr lang="en-IL" dirty="0"/>
                <a:t>refine</a:t>
              </a:r>
            </a:p>
          </p:txBody>
        </p:sp>
        <p:sp>
          <p:nvSpPr>
            <p:cNvPr id="19" name="TextBox 18">
              <a:extLst>
                <a:ext uri="{FF2B5EF4-FFF2-40B4-BE49-F238E27FC236}">
                  <a16:creationId xmlns:a16="http://schemas.microsoft.com/office/drawing/2014/main" id="{6A5E0B90-295A-9D08-3CC0-9FC5EE7DDBAD}"/>
                </a:ext>
              </a:extLst>
            </p:cNvPr>
            <p:cNvSpPr txBox="1"/>
            <p:nvPr/>
          </p:nvSpPr>
          <p:spPr>
            <a:xfrm>
              <a:off x="1155358" y="1682575"/>
              <a:ext cx="1248031" cy="369332"/>
            </a:xfrm>
            <a:prstGeom prst="rect">
              <a:avLst/>
            </a:prstGeom>
            <a:noFill/>
          </p:spPr>
          <p:txBody>
            <a:bodyPr wrap="square" rtlCol="0">
              <a:spAutoFit/>
            </a:bodyPr>
            <a:lstStyle/>
            <a:p>
              <a:pPr algn="ctr"/>
              <a:r>
                <a:rPr lang="en-US" dirty="0"/>
                <a:t>no_</a:t>
              </a:r>
              <a:r>
                <a:rPr lang="en-IL" dirty="0"/>
                <a:t>refine</a:t>
              </a:r>
            </a:p>
          </p:txBody>
        </p:sp>
      </p:grpSp>
      <p:grpSp>
        <p:nvGrpSpPr>
          <p:cNvPr id="37" name="Group 36">
            <a:extLst>
              <a:ext uri="{FF2B5EF4-FFF2-40B4-BE49-F238E27FC236}">
                <a16:creationId xmlns:a16="http://schemas.microsoft.com/office/drawing/2014/main" id="{C91259BC-754F-8C0A-DB5D-FB1C812A1C8E}"/>
              </a:ext>
            </a:extLst>
          </p:cNvPr>
          <p:cNvGrpSpPr/>
          <p:nvPr/>
        </p:nvGrpSpPr>
        <p:grpSpPr>
          <a:xfrm>
            <a:off x="3248408" y="3346100"/>
            <a:ext cx="5098765" cy="3123519"/>
            <a:chOff x="5544522" y="396097"/>
            <a:chExt cx="5098765" cy="3123519"/>
          </a:xfrm>
        </p:grpSpPr>
        <p:grpSp>
          <p:nvGrpSpPr>
            <p:cNvPr id="22" name="Group 21">
              <a:extLst>
                <a:ext uri="{FF2B5EF4-FFF2-40B4-BE49-F238E27FC236}">
                  <a16:creationId xmlns:a16="http://schemas.microsoft.com/office/drawing/2014/main" id="{D1B2E78E-A7E8-7527-F263-A8B316ACFE75}"/>
                </a:ext>
              </a:extLst>
            </p:cNvPr>
            <p:cNvGrpSpPr/>
            <p:nvPr/>
          </p:nvGrpSpPr>
          <p:grpSpPr>
            <a:xfrm rot="5400000">
              <a:off x="6911546" y="-136613"/>
              <a:ext cx="2384854" cy="4188940"/>
              <a:chOff x="2891481" y="1668162"/>
              <a:chExt cx="2384854" cy="4188940"/>
            </a:xfrm>
            <a:noFill/>
          </p:grpSpPr>
          <p:sp>
            <p:nvSpPr>
              <p:cNvPr id="29" name="Triangle 28">
                <a:extLst>
                  <a:ext uri="{FF2B5EF4-FFF2-40B4-BE49-F238E27FC236}">
                    <a16:creationId xmlns:a16="http://schemas.microsoft.com/office/drawing/2014/main" id="{AE3A9F4E-EF79-9A44-C004-D6725B60F7D1}"/>
                  </a:ext>
                </a:extLst>
              </p:cNvPr>
              <p:cNvSpPr/>
              <p:nvPr/>
            </p:nvSpPr>
            <p:spPr>
              <a:xfrm>
                <a:off x="2891481" y="1668162"/>
                <a:ext cx="2384854" cy="2224216"/>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0" name="Triangle 29">
                <a:extLst>
                  <a:ext uri="{FF2B5EF4-FFF2-40B4-BE49-F238E27FC236}">
                    <a16:creationId xmlns:a16="http://schemas.microsoft.com/office/drawing/2014/main" id="{8FCE86AD-E07E-AC56-243D-BCD2D0885F54}"/>
                  </a:ext>
                </a:extLst>
              </p:cNvPr>
              <p:cNvSpPr/>
              <p:nvPr/>
            </p:nvSpPr>
            <p:spPr>
              <a:xfrm flipV="1">
                <a:off x="2891481" y="3892377"/>
                <a:ext cx="2384854" cy="196472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23" name="TextBox 22">
              <a:extLst>
                <a:ext uri="{FF2B5EF4-FFF2-40B4-BE49-F238E27FC236}">
                  <a16:creationId xmlns:a16="http://schemas.microsoft.com/office/drawing/2014/main" id="{F9FE9DDA-CF16-D415-D847-037951FE937F}"/>
                </a:ext>
              </a:extLst>
            </p:cNvPr>
            <p:cNvSpPr txBox="1"/>
            <p:nvPr/>
          </p:nvSpPr>
          <p:spPr>
            <a:xfrm>
              <a:off x="7776519" y="396097"/>
              <a:ext cx="469557" cy="369332"/>
            </a:xfrm>
            <a:prstGeom prst="rect">
              <a:avLst/>
            </a:prstGeom>
            <a:noFill/>
          </p:spPr>
          <p:txBody>
            <a:bodyPr wrap="square" rtlCol="0">
              <a:spAutoFit/>
            </a:bodyPr>
            <a:lstStyle/>
            <a:p>
              <a:r>
                <a:rPr lang="en-IL" dirty="0"/>
                <a:t>A</a:t>
              </a:r>
            </a:p>
          </p:txBody>
        </p:sp>
        <p:sp>
          <p:nvSpPr>
            <p:cNvPr id="24" name="TextBox 23">
              <a:extLst>
                <a:ext uri="{FF2B5EF4-FFF2-40B4-BE49-F238E27FC236}">
                  <a16:creationId xmlns:a16="http://schemas.microsoft.com/office/drawing/2014/main" id="{4F929A24-5B50-D590-B2CC-367D2C90B793}"/>
                </a:ext>
              </a:extLst>
            </p:cNvPr>
            <p:cNvSpPr txBox="1"/>
            <p:nvPr/>
          </p:nvSpPr>
          <p:spPr>
            <a:xfrm>
              <a:off x="10173730" y="1773191"/>
              <a:ext cx="469557" cy="369332"/>
            </a:xfrm>
            <a:prstGeom prst="rect">
              <a:avLst/>
            </a:prstGeom>
            <a:noFill/>
          </p:spPr>
          <p:txBody>
            <a:bodyPr wrap="square" rtlCol="0">
              <a:spAutoFit/>
            </a:bodyPr>
            <a:lstStyle/>
            <a:p>
              <a:r>
                <a:rPr lang="en-IL" dirty="0"/>
                <a:t>B</a:t>
              </a:r>
            </a:p>
          </p:txBody>
        </p:sp>
        <p:sp>
          <p:nvSpPr>
            <p:cNvPr id="25" name="TextBox 24">
              <a:extLst>
                <a:ext uri="{FF2B5EF4-FFF2-40B4-BE49-F238E27FC236}">
                  <a16:creationId xmlns:a16="http://schemas.microsoft.com/office/drawing/2014/main" id="{8F3DF3DF-D3A3-72CA-A6EE-A932235AD36C}"/>
                </a:ext>
              </a:extLst>
            </p:cNvPr>
            <p:cNvSpPr txBox="1"/>
            <p:nvPr/>
          </p:nvSpPr>
          <p:spPr>
            <a:xfrm>
              <a:off x="7776519" y="3150284"/>
              <a:ext cx="469557" cy="369332"/>
            </a:xfrm>
            <a:prstGeom prst="rect">
              <a:avLst/>
            </a:prstGeom>
            <a:noFill/>
          </p:spPr>
          <p:txBody>
            <a:bodyPr wrap="square" rtlCol="0">
              <a:spAutoFit/>
            </a:bodyPr>
            <a:lstStyle/>
            <a:p>
              <a:r>
                <a:rPr lang="en-IL" dirty="0"/>
                <a:t>C</a:t>
              </a:r>
            </a:p>
          </p:txBody>
        </p:sp>
        <p:sp>
          <p:nvSpPr>
            <p:cNvPr id="26" name="TextBox 25">
              <a:extLst>
                <a:ext uri="{FF2B5EF4-FFF2-40B4-BE49-F238E27FC236}">
                  <a16:creationId xmlns:a16="http://schemas.microsoft.com/office/drawing/2014/main" id="{4B0EB043-D7CC-F501-32F7-E93FC903A63B}"/>
                </a:ext>
              </a:extLst>
            </p:cNvPr>
            <p:cNvSpPr txBox="1"/>
            <p:nvPr/>
          </p:nvSpPr>
          <p:spPr>
            <a:xfrm>
              <a:off x="5544522" y="1295859"/>
              <a:ext cx="469557" cy="369332"/>
            </a:xfrm>
            <a:prstGeom prst="rect">
              <a:avLst/>
            </a:prstGeom>
            <a:noFill/>
          </p:spPr>
          <p:txBody>
            <a:bodyPr wrap="square" rtlCol="0">
              <a:spAutoFit/>
            </a:bodyPr>
            <a:lstStyle/>
            <a:p>
              <a:r>
                <a:rPr lang="en-IL" dirty="0"/>
                <a:t>D</a:t>
              </a:r>
            </a:p>
          </p:txBody>
        </p:sp>
        <p:sp>
          <p:nvSpPr>
            <p:cNvPr id="27" name="TextBox 26">
              <a:extLst>
                <a:ext uri="{FF2B5EF4-FFF2-40B4-BE49-F238E27FC236}">
                  <a16:creationId xmlns:a16="http://schemas.microsoft.com/office/drawing/2014/main" id="{28992770-1DD2-2582-22B3-D472C989DF6E}"/>
                </a:ext>
              </a:extLst>
            </p:cNvPr>
            <p:cNvSpPr txBox="1"/>
            <p:nvPr/>
          </p:nvSpPr>
          <p:spPr>
            <a:xfrm>
              <a:off x="7943999" y="2416348"/>
              <a:ext cx="852616" cy="369332"/>
            </a:xfrm>
            <a:prstGeom prst="rect">
              <a:avLst/>
            </a:prstGeom>
            <a:noFill/>
          </p:spPr>
          <p:txBody>
            <a:bodyPr wrap="square" rtlCol="0">
              <a:spAutoFit/>
            </a:bodyPr>
            <a:lstStyle/>
            <a:p>
              <a:pPr algn="ctr"/>
              <a:r>
                <a:rPr lang="en-IL" dirty="0"/>
                <a:t>refine</a:t>
              </a:r>
            </a:p>
          </p:txBody>
        </p:sp>
        <p:sp>
          <p:nvSpPr>
            <p:cNvPr id="28" name="TextBox 27">
              <a:extLst>
                <a:ext uri="{FF2B5EF4-FFF2-40B4-BE49-F238E27FC236}">
                  <a16:creationId xmlns:a16="http://schemas.microsoft.com/office/drawing/2014/main" id="{9A0AE90C-A3A1-FE8E-EF60-D9661282A9AB}"/>
                </a:ext>
              </a:extLst>
            </p:cNvPr>
            <p:cNvSpPr txBox="1"/>
            <p:nvPr/>
          </p:nvSpPr>
          <p:spPr>
            <a:xfrm>
              <a:off x="6557774" y="1403859"/>
              <a:ext cx="1248031" cy="369332"/>
            </a:xfrm>
            <a:prstGeom prst="rect">
              <a:avLst/>
            </a:prstGeom>
            <a:noFill/>
          </p:spPr>
          <p:txBody>
            <a:bodyPr wrap="square" rtlCol="0">
              <a:spAutoFit/>
            </a:bodyPr>
            <a:lstStyle/>
            <a:p>
              <a:pPr algn="ctr"/>
              <a:r>
                <a:rPr lang="en-US" dirty="0"/>
                <a:t>no_</a:t>
              </a:r>
              <a:r>
                <a:rPr lang="en-IL" dirty="0"/>
                <a:t>refine</a:t>
              </a:r>
            </a:p>
          </p:txBody>
        </p:sp>
        <p:sp>
          <p:nvSpPr>
            <p:cNvPr id="31" name="Oval 30">
              <a:extLst>
                <a:ext uri="{FF2B5EF4-FFF2-40B4-BE49-F238E27FC236}">
                  <a16:creationId xmlns:a16="http://schemas.microsoft.com/office/drawing/2014/main" id="{BA9E7A50-9677-4015-DC53-504A135DACDB}"/>
                </a:ext>
              </a:extLst>
            </p:cNvPr>
            <p:cNvSpPr/>
            <p:nvPr/>
          </p:nvSpPr>
          <p:spPr>
            <a:xfrm>
              <a:off x="8978425" y="1275390"/>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2" name="Oval 31">
              <a:extLst>
                <a:ext uri="{FF2B5EF4-FFF2-40B4-BE49-F238E27FC236}">
                  <a16:creationId xmlns:a16="http://schemas.microsoft.com/office/drawing/2014/main" id="{740C188C-E90E-D05F-6127-F734287A904E}"/>
                </a:ext>
              </a:extLst>
            </p:cNvPr>
            <p:cNvSpPr/>
            <p:nvPr/>
          </p:nvSpPr>
          <p:spPr>
            <a:xfrm>
              <a:off x="8951899" y="2538403"/>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3" name="Oval 32">
              <a:extLst>
                <a:ext uri="{FF2B5EF4-FFF2-40B4-BE49-F238E27FC236}">
                  <a16:creationId xmlns:a16="http://schemas.microsoft.com/office/drawing/2014/main" id="{CCCBE14F-48A1-2B6E-DD16-FA7A11B5E44B}"/>
                </a:ext>
              </a:extLst>
            </p:cNvPr>
            <p:cNvSpPr/>
            <p:nvPr/>
          </p:nvSpPr>
          <p:spPr>
            <a:xfrm>
              <a:off x="7924800" y="1903857"/>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TextBox 33">
              <a:extLst>
                <a:ext uri="{FF2B5EF4-FFF2-40B4-BE49-F238E27FC236}">
                  <a16:creationId xmlns:a16="http://schemas.microsoft.com/office/drawing/2014/main" id="{886B6FB1-F230-A5E6-CD91-C454255B6901}"/>
                </a:ext>
              </a:extLst>
            </p:cNvPr>
            <p:cNvSpPr txBox="1"/>
            <p:nvPr/>
          </p:nvSpPr>
          <p:spPr>
            <a:xfrm>
              <a:off x="8987481" y="980527"/>
              <a:ext cx="621957" cy="369332"/>
            </a:xfrm>
            <a:prstGeom prst="rect">
              <a:avLst/>
            </a:prstGeom>
            <a:noFill/>
          </p:spPr>
          <p:txBody>
            <a:bodyPr wrap="square" rtlCol="0">
              <a:spAutoFit/>
            </a:bodyPr>
            <a:lstStyle/>
            <a:p>
              <a:r>
                <a:rPr lang="en-IL" dirty="0"/>
                <a:t>m</a:t>
              </a:r>
              <a:r>
                <a:rPr lang="en-IL" baseline="-25000" dirty="0"/>
                <a:t>AB</a:t>
              </a:r>
              <a:endParaRPr lang="en-IL" dirty="0"/>
            </a:p>
          </p:txBody>
        </p:sp>
        <p:sp>
          <p:nvSpPr>
            <p:cNvPr id="35" name="TextBox 34">
              <a:extLst>
                <a:ext uri="{FF2B5EF4-FFF2-40B4-BE49-F238E27FC236}">
                  <a16:creationId xmlns:a16="http://schemas.microsoft.com/office/drawing/2014/main" id="{46D507AD-9873-E75B-C25D-40D24D2107D0}"/>
                </a:ext>
              </a:extLst>
            </p:cNvPr>
            <p:cNvSpPr txBox="1"/>
            <p:nvPr/>
          </p:nvSpPr>
          <p:spPr>
            <a:xfrm>
              <a:off x="8939665" y="2620237"/>
              <a:ext cx="621957" cy="369332"/>
            </a:xfrm>
            <a:prstGeom prst="rect">
              <a:avLst/>
            </a:prstGeom>
            <a:noFill/>
          </p:spPr>
          <p:txBody>
            <a:bodyPr wrap="square" rtlCol="0">
              <a:spAutoFit/>
            </a:bodyPr>
            <a:lstStyle/>
            <a:p>
              <a:r>
                <a:rPr lang="en-IL" dirty="0"/>
                <a:t>m</a:t>
              </a:r>
              <a:r>
                <a:rPr lang="en-IL" baseline="-25000" dirty="0"/>
                <a:t>BC</a:t>
              </a:r>
              <a:endParaRPr lang="en-IL" dirty="0"/>
            </a:p>
          </p:txBody>
        </p:sp>
        <p:sp>
          <p:nvSpPr>
            <p:cNvPr id="36" name="TextBox 35">
              <a:extLst>
                <a:ext uri="{FF2B5EF4-FFF2-40B4-BE49-F238E27FC236}">
                  <a16:creationId xmlns:a16="http://schemas.microsoft.com/office/drawing/2014/main" id="{7202D3CE-C46A-8D8F-A2FD-B989FDC38875}"/>
                </a:ext>
              </a:extLst>
            </p:cNvPr>
            <p:cNvSpPr txBox="1"/>
            <p:nvPr/>
          </p:nvSpPr>
          <p:spPr>
            <a:xfrm>
              <a:off x="7930987" y="1391309"/>
              <a:ext cx="621957" cy="369332"/>
            </a:xfrm>
            <a:prstGeom prst="rect">
              <a:avLst/>
            </a:prstGeom>
            <a:noFill/>
          </p:spPr>
          <p:txBody>
            <a:bodyPr wrap="square" rtlCol="0">
              <a:spAutoFit/>
            </a:bodyPr>
            <a:lstStyle/>
            <a:p>
              <a:r>
                <a:rPr lang="en-IL" dirty="0"/>
                <a:t>m</a:t>
              </a:r>
              <a:r>
                <a:rPr lang="en-IL" baseline="-25000" dirty="0"/>
                <a:t>CA</a:t>
              </a:r>
              <a:endParaRPr lang="en-IL" dirty="0"/>
            </a:p>
          </p:txBody>
        </p:sp>
      </p:grpSp>
      <p:grpSp>
        <p:nvGrpSpPr>
          <p:cNvPr id="38" name="Group 37">
            <a:extLst>
              <a:ext uri="{FF2B5EF4-FFF2-40B4-BE49-F238E27FC236}">
                <a16:creationId xmlns:a16="http://schemas.microsoft.com/office/drawing/2014/main" id="{A1DB2501-63ED-18BC-B944-08320173F7FE}"/>
              </a:ext>
            </a:extLst>
          </p:cNvPr>
          <p:cNvGrpSpPr/>
          <p:nvPr/>
        </p:nvGrpSpPr>
        <p:grpSpPr>
          <a:xfrm>
            <a:off x="6077987" y="404218"/>
            <a:ext cx="4992130" cy="3123519"/>
            <a:chOff x="5651157" y="396097"/>
            <a:chExt cx="4992130" cy="3123519"/>
          </a:xfrm>
        </p:grpSpPr>
        <p:grpSp>
          <p:nvGrpSpPr>
            <p:cNvPr id="39" name="Group 38">
              <a:extLst>
                <a:ext uri="{FF2B5EF4-FFF2-40B4-BE49-F238E27FC236}">
                  <a16:creationId xmlns:a16="http://schemas.microsoft.com/office/drawing/2014/main" id="{1E8B0F8A-F696-7E94-CD61-CF33639F9515}"/>
                </a:ext>
              </a:extLst>
            </p:cNvPr>
            <p:cNvGrpSpPr/>
            <p:nvPr/>
          </p:nvGrpSpPr>
          <p:grpSpPr>
            <a:xfrm rot="5400000">
              <a:off x="6911546" y="-136613"/>
              <a:ext cx="2384854" cy="4188940"/>
              <a:chOff x="2891481" y="1668162"/>
              <a:chExt cx="2384854" cy="4188940"/>
            </a:xfrm>
            <a:noFill/>
          </p:grpSpPr>
          <p:sp>
            <p:nvSpPr>
              <p:cNvPr id="52" name="Triangle 51">
                <a:extLst>
                  <a:ext uri="{FF2B5EF4-FFF2-40B4-BE49-F238E27FC236}">
                    <a16:creationId xmlns:a16="http://schemas.microsoft.com/office/drawing/2014/main" id="{3DBB1250-654F-52A8-6F25-174EF578E333}"/>
                  </a:ext>
                </a:extLst>
              </p:cNvPr>
              <p:cNvSpPr/>
              <p:nvPr/>
            </p:nvSpPr>
            <p:spPr>
              <a:xfrm>
                <a:off x="2891481" y="1668162"/>
                <a:ext cx="2384854" cy="2224216"/>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3" name="Triangle 52">
                <a:extLst>
                  <a:ext uri="{FF2B5EF4-FFF2-40B4-BE49-F238E27FC236}">
                    <a16:creationId xmlns:a16="http://schemas.microsoft.com/office/drawing/2014/main" id="{660CE509-117A-4E32-45C4-CE717B0C25E2}"/>
                  </a:ext>
                </a:extLst>
              </p:cNvPr>
              <p:cNvSpPr/>
              <p:nvPr/>
            </p:nvSpPr>
            <p:spPr>
              <a:xfrm flipV="1">
                <a:off x="2891481" y="3892377"/>
                <a:ext cx="2384854" cy="196472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40" name="TextBox 39">
              <a:extLst>
                <a:ext uri="{FF2B5EF4-FFF2-40B4-BE49-F238E27FC236}">
                  <a16:creationId xmlns:a16="http://schemas.microsoft.com/office/drawing/2014/main" id="{DE24CFDA-8A45-46F1-AE61-4801ACFE1F75}"/>
                </a:ext>
              </a:extLst>
            </p:cNvPr>
            <p:cNvSpPr txBox="1"/>
            <p:nvPr/>
          </p:nvSpPr>
          <p:spPr>
            <a:xfrm>
              <a:off x="7776519" y="396097"/>
              <a:ext cx="469557" cy="369332"/>
            </a:xfrm>
            <a:prstGeom prst="rect">
              <a:avLst/>
            </a:prstGeom>
            <a:noFill/>
          </p:spPr>
          <p:txBody>
            <a:bodyPr wrap="square" rtlCol="0">
              <a:spAutoFit/>
            </a:bodyPr>
            <a:lstStyle/>
            <a:p>
              <a:r>
                <a:rPr lang="en-IL" dirty="0"/>
                <a:t>A</a:t>
              </a:r>
            </a:p>
          </p:txBody>
        </p:sp>
        <p:sp>
          <p:nvSpPr>
            <p:cNvPr id="41" name="TextBox 40">
              <a:extLst>
                <a:ext uri="{FF2B5EF4-FFF2-40B4-BE49-F238E27FC236}">
                  <a16:creationId xmlns:a16="http://schemas.microsoft.com/office/drawing/2014/main" id="{BBA7C270-4FB8-778F-33D8-D62FAB85381B}"/>
                </a:ext>
              </a:extLst>
            </p:cNvPr>
            <p:cNvSpPr txBox="1"/>
            <p:nvPr/>
          </p:nvSpPr>
          <p:spPr>
            <a:xfrm>
              <a:off x="10173730" y="1773191"/>
              <a:ext cx="469557" cy="369332"/>
            </a:xfrm>
            <a:prstGeom prst="rect">
              <a:avLst/>
            </a:prstGeom>
            <a:noFill/>
          </p:spPr>
          <p:txBody>
            <a:bodyPr wrap="square" rtlCol="0">
              <a:spAutoFit/>
            </a:bodyPr>
            <a:lstStyle/>
            <a:p>
              <a:r>
                <a:rPr lang="en-IL" dirty="0"/>
                <a:t>B</a:t>
              </a:r>
            </a:p>
          </p:txBody>
        </p:sp>
        <p:sp>
          <p:nvSpPr>
            <p:cNvPr id="42" name="TextBox 41">
              <a:extLst>
                <a:ext uri="{FF2B5EF4-FFF2-40B4-BE49-F238E27FC236}">
                  <a16:creationId xmlns:a16="http://schemas.microsoft.com/office/drawing/2014/main" id="{F9CF313A-0C06-B83F-6E91-42936477BD97}"/>
                </a:ext>
              </a:extLst>
            </p:cNvPr>
            <p:cNvSpPr txBox="1"/>
            <p:nvPr/>
          </p:nvSpPr>
          <p:spPr>
            <a:xfrm>
              <a:off x="7776519" y="3150284"/>
              <a:ext cx="469557" cy="369332"/>
            </a:xfrm>
            <a:prstGeom prst="rect">
              <a:avLst/>
            </a:prstGeom>
            <a:noFill/>
          </p:spPr>
          <p:txBody>
            <a:bodyPr wrap="square" rtlCol="0">
              <a:spAutoFit/>
            </a:bodyPr>
            <a:lstStyle/>
            <a:p>
              <a:r>
                <a:rPr lang="en-IL" dirty="0"/>
                <a:t>C</a:t>
              </a:r>
            </a:p>
          </p:txBody>
        </p:sp>
        <p:sp>
          <p:nvSpPr>
            <p:cNvPr id="43" name="TextBox 42">
              <a:extLst>
                <a:ext uri="{FF2B5EF4-FFF2-40B4-BE49-F238E27FC236}">
                  <a16:creationId xmlns:a16="http://schemas.microsoft.com/office/drawing/2014/main" id="{56CB857D-C431-B21A-6D3C-82967A3C0B58}"/>
                </a:ext>
              </a:extLst>
            </p:cNvPr>
            <p:cNvSpPr txBox="1"/>
            <p:nvPr/>
          </p:nvSpPr>
          <p:spPr>
            <a:xfrm>
              <a:off x="5651157" y="1773191"/>
              <a:ext cx="469557" cy="369332"/>
            </a:xfrm>
            <a:prstGeom prst="rect">
              <a:avLst/>
            </a:prstGeom>
            <a:noFill/>
          </p:spPr>
          <p:txBody>
            <a:bodyPr wrap="square" rtlCol="0">
              <a:spAutoFit/>
            </a:bodyPr>
            <a:lstStyle/>
            <a:p>
              <a:r>
                <a:rPr lang="en-IL" dirty="0"/>
                <a:t>D</a:t>
              </a:r>
            </a:p>
          </p:txBody>
        </p:sp>
        <p:sp>
          <p:nvSpPr>
            <p:cNvPr id="44" name="TextBox 43">
              <a:extLst>
                <a:ext uri="{FF2B5EF4-FFF2-40B4-BE49-F238E27FC236}">
                  <a16:creationId xmlns:a16="http://schemas.microsoft.com/office/drawing/2014/main" id="{66D5118A-6DC4-4946-3226-47CB3723B815}"/>
                </a:ext>
              </a:extLst>
            </p:cNvPr>
            <p:cNvSpPr txBox="1"/>
            <p:nvPr/>
          </p:nvSpPr>
          <p:spPr>
            <a:xfrm>
              <a:off x="8369644" y="1773191"/>
              <a:ext cx="852616" cy="369332"/>
            </a:xfrm>
            <a:prstGeom prst="rect">
              <a:avLst/>
            </a:prstGeom>
            <a:noFill/>
          </p:spPr>
          <p:txBody>
            <a:bodyPr wrap="square" rtlCol="0">
              <a:spAutoFit/>
            </a:bodyPr>
            <a:lstStyle/>
            <a:p>
              <a:pPr algn="ctr"/>
              <a:r>
                <a:rPr lang="en-IL" dirty="0"/>
                <a:t>refine</a:t>
              </a:r>
            </a:p>
          </p:txBody>
        </p:sp>
        <p:sp>
          <p:nvSpPr>
            <p:cNvPr id="45" name="TextBox 44">
              <a:extLst>
                <a:ext uri="{FF2B5EF4-FFF2-40B4-BE49-F238E27FC236}">
                  <a16:creationId xmlns:a16="http://schemas.microsoft.com/office/drawing/2014/main" id="{E3079626-4993-A4A8-290D-B354064BF0AE}"/>
                </a:ext>
              </a:extLst>
            </p:cNvPr>
            <p:cNvSpPr txBox="1"/>
            <p:nvPr/>
          </p:nvSpPr>
          <p:spPr>
            <a:xfrm>
              <a:off x="6547023" y="1773191"/>
              <a:ext cx="1248031" cy="369332"/>
            </a:xfrm>
            <a:prstGeom prst="rect">
              <a:avLst/>
            </a:prstGeom>
            <a:noFill/>
          </p:spPr>
          <p:txBody>
            <a:bodyPr wrap="square" rtlCol="0">
              <a:spAutoFit/>
            </a:bodyPr>
            <a:lstStyle/>
            <a:p>
              <a:pPr algn="ctr"/>
              <a:r>
                <a:rPr lang="en-US" dirty="0"/>
                <a:t>no_</a:t>
              </a:r>
              <a:r>
                <a:rPr lang="en-IL" dirty="0"/>
                <a:t>refine</a:t>
              </a:r>
            </a:p>
          </p:txBody>
        </p:sp>
        <p:sp>
          <p:nvSpPr>
            <p:cNvPr id="46" name="Oval 45">
              <a:extLst>
                <a:ext uri="{FF2B5EF4-FFF2-40B4-BE49-F238E27FC236}">
                  <a16:creationId xmlns:a16="http://schemas.microsoft.com/office/drawing/2014/main" id="{65520D00-DA63-1D64-6AB1-C7BD4BA18EFF}"/>
                </a:ext>
              </a:extLst>
            </p:cNvPr>
            <p:cNvSpPr/>
            <p:nvPr/>
          </p:nvSpPr>
          <p:spPr>
            <a:xfrm>
              <a:off x="9005899" y="1295859"/>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7" name="Oval 46">
              <a:extLst>
                <a:ext uri="{FF2B5EF4-FFF2-40B4-BE49-F238E27FC236}">
                  <a16:creationId xmlns:a16="http://schemas.microsoft.com/office/drawing/2014/main" id="{B4F426EE-5C27-AD47-4115-C39ED663FA66}"/>
                </a:ext>
              </a:extLst>
            </p:cNvPr>
            <p:cNvSpPr/>
            <p:nvPr/>
          </p:nvSpPr>
          <p:spPr>
            <a:xfrm>
              <a:off x="8951899" y="2538403"/>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Oval 47">
              <a:extLst>
                <a:ext uri="{FF2B5EF4-FFF2-40B4-BE49-F238E27FC236}">
                  <a16:creationId xmlns:a16="http://schemas.microsoft.com/office/drawing/2014/main" id="{EE57482B-5753-F9FB-1A0B-F0625061F980}"/>
                </a:ext>
              </a:extLst>
            </p:cNvPr>
            <p:cNvSpPr/>
            <p:nvPr/>
          </p:nvSpPr>
          <p:spPr>
            <a:xfrm>
              <a:off x="7924800" y="1903857"/>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9" name="TextBox 48">
              <a:extLst>
                <a:ext uri="{FF2B5EF4-FFF2-40B4-BE49-F238E27FC236}">
                  <a16:creationId xmlns:a16="http://schemas.microsoft.com/office/drawing/2014/main" id="{6EAB3795-8652-CFBA-2291-67AF9F8D7F14}"/>
                </a:ext>
              </a:extLst>
            </p:cNvPr>
            <p:cNvSpPr txBox="1"/>
            <p:nvPr/>
          </p:nvSpPr>
          <p:spPr>
            <a:xfrm>
              <a:off x="8987481" y="980527"/>
              <a:ext cx="621957" cy="369332"/>
            </a:xfrm>
            <a:prstGeom prst="rect">
              <a:avLst/>
            </a:prstGeom>
            <a:noFill/>
          </p:spPr>
          <p:txBody>
            <a:bodyPr wrap="square" rtlCol="0">
              <a:spAutoFit/>
            </a:bodyPr>
            <a:lstStyle/>
            <a:p>
              <a:r>
                <a:rPr lang="en-IL" dirty="0"/>
                <a:t>m</a:t>
              </a:r>
              <a:r>
                <a:rPr lang="en-IL" baseline="-25000" dirty="0"/>
                <a:t>AB</a:t>
              </a:r>
              <a:endParaRPr lang="en-IL" dirty="0"/>
            </a:p>
          </p:txBody>
        </p:sp>
        <p:sp>
          <p:nvSpPr>
            <p:cNvPr id="50" name="TextBox 49">
              <a:extLst>
                <a:ext uri="{FF2B5EF4-FFF2-40B4-BE49-F238E27FC236}">
                  <a16:creationId xmlns:a16="http://schemas.microsoft.com/office/drawing/2014/main" id="{FAFB27C7-5C85-D582-4984-B3DB7DEE5BD6}"/>
                </a:ext>
              </a:extLst>
            </p:cNvPr>
            <p:cNvSpPr txBox="1"/>
            <p:nvPr/>
          </p:nvSpPr>
          <p:spPr>
            <a:xfrm>
              <a:off x="8939665" y="2620237"/>
              <a:ext cx="621957" cy="369332"/>
            </a:xfrm>
            <a:prstGeom prst="rect">
              <a:avLst/>
            </a:prstGeom>
            <a:noFill/>
          </p:spPr>
          <p:txBody>
            <a:bodyPr wrap="square" rtlCol="0">
              <a:spAutoFit/>
            </a:bodyPr>
            <a:lstStyle/>
            <a:p>
              <a:r>
                <a:rPr lang="en-IL" dirty="0"/>
                <a:t>m</a:t>
              </a:r>
              <a:r>
                <a:rPr lang="en-IL" baseline="-25000" dirty="0"/>
                <a:t>BC</a:t>
              </a:r>
              <a:endParaRPr lang="en-IL" dirty="0"/>
            </a:p>
          </p:txBody>
        </p:sp>
        <p:sp>
          <p:nvSpPr>
            <p:cNvPr id="51" name="TextBox 50">
              <a:extLst>
                <a:ext uri="{FF2B5EF4-FFF2-40B4-BE49-F238E27FC236}">
                  <a16:creationId xmlns:a16="http://schemas.microsoft.com/office/drawing/2014/main" id="{97FD91D9-F76E-8643-FCF7-E10E0D201700}"/>
                </a:ext>
              </a:extLst>
            </p:cNvPr>
            <p:cNvSpPr txBox="1"/>
            <p:nvPr/>
          </p:nvSpPr>
          <p:spPr>
            <a:xfrm>
              <a:off x="7946637" y="1617425"/>
              <a:ext cx="621957" cy="369332"/>
            </a:xfrm>
            <a:prstGeom prst="rect">
              <a:avLst/>
            </a:prstGeom>
            <a:noFill/>
          </p:spPr>
          <p:txBody>
            <a:bodyPr wrap="square" rtlCol="0">
              <a:spAutoFit/>
            </a:bodyPr>
            <a:lstStyle/>
            <a:p>
              <a:r>
                <a:rPr lang="en-IL" dirty="0"/>
                <a:t>m</a:t>
              </a:r>
              <a:r>
                <a:rPr lang="en-IL" baseline="-25000" dirty="0"/>
                <a:t>CA</a:t>
              </a:r>
              <a:endParaRPr lang="en-IL" dirty="0"/>
            </a:p>
          </p:txBody>
        </p:sp>
      </p:grpSp>
      <p:sp>
        <p:nvSpPr>
          <p:cNvPr id="54" name="TextBox 53">
            <a:extLst>
              <a:ext uri="{FF2B5EF4-FFF2-40B4-BE49-F238E27FC236}">
                <a16:creationId xmlns:a16="http://schemas.microsoft.com/office/drawing/2014/main" id="{FE9AB061-4CD7-85CF-0FE3-2F1E787A1CB6}"/>
              </a:ext>
            </a:extLst>
          </p:cNvPr>
          <p:cNvSpPr txBox="1"/>
          <p:nvPr/>
        </p:nvSpPr>
        <p:spPr>
          <a:xfrm>
            <a:off x="495807" y="305481"/>
            <a:ext cx="469557" cy="584775"/>
          </a:xfrm>
          <a:prstGeom prst="rect">
            <a:avLst/>
          </a:prstGeom>
          <a:noFill/>
        </p:spPr>
        <p:txBody>
          <a:bodyPr wrap="square" rtlCol="0">
            <a:spAutoFit/>
          </a:bodyPr>
          <a:lstStyle/>
          <a:p>
            <a:pPr algn="ctr"/>
            <a:r>
              <a:rPr lang="en-IL" sz="3200" b="1" dirty="0"/>
              <a:t>1</a:t>
            </a:r>
          </a:p>
        </p:txBody>
      </p:sp>
      <p:sp>
        <p:nvSpPr>
          <p:cNvPr id="56" name="TextBox 55">
            <a:extLst>
              <a:ext uri="{FF2B5EF4-FFF2-40B4-BE49-F238E27FC236}">
                <a16:creationId xmlns:a16="http://schemas.microsoft.com/office/drawing/2014/main" id="{B1C50CAE-AAD0-4183-9B84-8178DB1B3F0B}"/>
              </a:ext>
            </a:extLst>
          </p:cNvPr>
          <p:cNvSpPr txBox="1"/>
          <p:nvPr/>
        </p:nvSpPr>
        <p:spPr>
          <a:xfrm>
            <a:off x="6201556" y="320448"/>
            <a:ext cx="469557" cy="584775"/>
          </a:xfrm>
          <a:prstGeom prst="rect">
            <a:avLst/>
          </a:prstGeom>
          <a:noFill/>
        </p:spPr>
        <p:txBody>
          <a:bodyPr wrap="square" rtlCol="0">
            <a:spAutoFit/>
          </a:bodyPr>
          <a:lstStyle/>
          <a:p>
            <a:pPr algn="ctr"/>
            <a:r>
              <a:rPr lang="en-IL" sz="3200" b="1" dirty="0"/>
              <a:t>2</a:t>
            </a:r>
          </a:p>
        </p:txBody>
      </p:sp>
      <p:sp>
        <p:nvSpPr>
          <p:cNvPr id="57" name="TextBox 56">
            <a:extLst>
              <a:ext uri="{FF2B5EF4-FFF2-40B4-BE49-F238E27FC236}">
                <a16:creationId xmlns:a16="http://schemas.microsoft.com/office/drawing/2014/main" id="{1D829909-010E-25F7-5832-5E7167619BC8}"/>
              </a:ext>
            </a:extLst>
          </p:cNvPr>
          <p:cNvSpPr txBox="1"/>
          <p:nvPr/>
        </p:nvSpPr>
        <p:spPr>
          <a:xfrm>
            <a:off x="3589821" y="3486481"/>
            <a:ext cx="469557" cy="584775"/>
          </a:xfrm>
          <a:prstGeom prst="rect">
            <a:avLst/>
          </a:prstGeom>
          <a:noFill/>
        </p:spPr>
        <p:txBody>
          <a:bodyPr wrap="square" rtlCol="0">
            <a:spAutoFit/>
          </a:bodyPr>
          <a:lstStyle/>
          <a:p>
            <a:pPr algn="ctr"/>
            <a:r>
              <a:rPr lang="en-IL" sz="3200" b="1" dirty="0"/>
              <a:t>3</a:t>
            </a:r>
          </a:p>
        </p:txBody>
      </p:sp>
      <p:cxnSp>
        <p:nvCxnSpPr>
          <p:cNvPr id="59" name="Straight Connector 58">
            <a:extLst>
              <a:ext uri="{FF2B5EF4-FFF2-40B4-BE49-F238E27FC236}">
                <a16:creationId xmlns:a16="http://schemas.microsoft.com/office/drawing/2014/main" id="{42535E7C-4F7D-0854-3459-7A0ABBEB5645}"/>
              </a:ext>
            </a:extLst>
          </p:cNvPr>
          <p:cNvCxnSpPr>
            <a:cxnSpLocks/>
            <a:stCxn id="30" idx="0"/>
          </p:cNvCxnSpPr>
          <p:nvPr/>
        </p:nvCxnSpPr>
        <p:spPr>
          <a:xfrm flipV="1">
            <a:off x="3713390" y="4901626"/>
            <a:ext cx="1964723" cy="6235"/>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8D0A9C93-F091-2871-B939-6D7F8580E69B}"/>
              </a:ext>
            </a:extLst>
          </p:cNvPr>
          <p:cNvCxnSpPr>
            <a:cxnSpLocks/>
            <a:endCxn id="32" idx="1"/>
          </p:cNvCxnSpPr>
          <p:nvPr/>
        </p:nvCxnSpPr>
        <p:spPr>
          <a:xfrm>
            <a:off x="5705705" y="4918860"/>
            <a:ext cx="965896" cy="585362"/>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A8D6AE2-2D77-E7C1-893C-A7FE0D44E068}"/>
              </a:ext>
            </a:extLst>
          </p:cNvPr>
          <p:cNvCxnSpPr>
            <a:cxnSpLocks/>
            <a:endCxn id="31" idx="3"/>
          </p:cNvCxnSpPr>
          <p:nvPr/>
        </p:nvCxnSpPr>
        <p:spPr>
          <a:xfrm flipV="1">
            <a:off x="5650639" y="4317577"/>
            <a:ext cx="1047488" cy="566697"/>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98125E48-51A5-3614-07CF-5018AFE4E030}"/>
              </a:ext>
            </a:extLst>
          </p:cNvPr>
          <p:cNvCxnSpPr>
            <a:cxnSpLocks/>
            <a:stCxn id="32" idx="0"/>
            <a:endCxn id="31" idx="4"/>
          </p:cNvCxnSpPr>
          <p:nvPr/>
        </p:nvCxnSpPr>
        <p:spPr>
          <a:xfrm flipV="1">
            <a:off x="6709785" y="4333393"/>
            <a:ext cx="26526" cy="115501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2473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400032D-60D9-D9F0-CAD6-1CD8F47F68B3}"/>
              </a:ext>
            </a:extLst>
          </p:cNvPr>
          <p:cNvSpPr txBox="1"/>
          <p:nvPr/>
        </p:nvSpPr>
        <p:spPr>
          <a:xfrm>
            <a:off x="1926020" y="5872653"/>
            <a:ext cx="1108841" cy="830997"/>
          </a:xfrm>
          <a:prstGeom prst="rect">
            <a:avLst/>
          </a:prstGeom>
          <a:noFill/>
        </p:spPr>
        <p:txBody>
          <a:bodyPr wrap="square" rtlCol="0">
            <a:spAutoFit/>
          </a:bodyPr>
          <a:lstStyle/>
          <a:p>
            <a:r>
              <a:rPr lang="en-IL" sz="2400" dirty="0"/>
              <a:t>1, (0,0,0)</a:t>
            </a:r>
          </a:p>
        </p:txBody>
      </p:sp>
      <p:grpSp>
        <p:nvGrpSpPr>
          <p:cNvPr id="16" name="Group 15">
            <a:extLst>
              <a:ext uri="{FF2B5EF4-FFF2-40B4-BE49-F238E27FC236}">
                <a16:creationId xmlns:a16="http://schemas.microsoft.com/office/drawing/2014/main" id="{06610B5E-FB39-D846-6FDC-4C8C20038DC4}"/>
              </a:ext>
            </a:extLst>
          </p:cNvPr>
          <p:cNvGrpSpPr/>
          <p:nvPr/>
        </p:nvGrpSpPr>
        <p:grpSpPr>
          <a:xfrm>
            <a:off x="2517227" y="985343"/>
            <a:ext cx="6810704" cy="4887313"/>
            <a:chOff x="2690648" y="325817"/>
            <a:chExt cx="6810704" cy="4887313"/>
          </a:xfrm>
        </p:grpSpPr>
        <p:sp>
          <p:nvSpPr>
            <p:cNvPr id="12" name="Triangle 11">
              <a:extLst>
                <a:ext uri="{FF2B5EF4-FFF2-40B4-BE49-F238E27FC236}">
                  <a16:creationId xmlns:a16="http://schemas.microsoft.com/office/drawing/2014/main" id="{0883B5EC-A555-931F-0A40-F843DECABC27}"/>
                </a:ext>
              </a:extLst>
            </p:cNvPr>
            <p:cNvSpPr/>
            <p:nvPr/>
          </p:nvSpPr>
          <p:spPr>
            <a:xfrm>
              <a:off x="2690648" y="2769475"/>
              <a:ext cx="3405352" cy="244365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riangle 12">
              <a:extLst>
                <a:ext uri="{FF2B5EF4-FFF2-40B4-BE49-F238E27FC236}">
                  <a16:creationId xmlns:a16="http://schemas.microsoft.com/office/drawing/2014/main" id="{B04FF99C-2E43-80D5-0B6C-5E4C0528CA7A}"/>
                </a:ext>
              </a:extLst>
            </p:cNvPr>
            <p:cNvSpPr/>
            <p:nvPr/>
          </p:nvSpPr>
          <p:spPr>
            <a:xfrm>
              <a:off x="6096000" y="2769474"/>
              <a:ext cx="3405352" cy="244365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riangle 13">
              <a:extLst>
                <a:ext uri="{FF2B5EF4-FFF2-40B4-BE49-F238E27FC236}">
                  <a16:creationId xmlns:a16="http://schemas.microsoft.com/office/drawing/2014/main" id="{8B10F34C-7D79-5C5A-2173-491578B71914}"/>
                </a:ext>
              </a:extLst>
            </p:cNvPr>
            <p:cNvSpPr/>
            <p:nvPr/>
          </p:nvSpPr>
          <p:spPr>
            <a:xfrm rot="10800000">
              <a:off x="4393324" y="2769474"/>
              <a:ext cx="3405352" cy="244365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riangle 14">
              <a:extLst>
                <a:ext uri="{FF2B5EF4-FFF2-40B4-BE49-F238E27FC236}">
                  <a16:creationId xmlns:a16="http://schemas.microsoft.com/office/drawing/2014/main" id="{5F85E7F1-5DF2-6986-0501-3AE4E7D882B3}"/>
                </a:ext>
              </a:extLst>
            </p:cNvPr>
            <p:cNvSpPr/>
            <p:nvPr/>
          </p:nvSpPr>
          <p:spPr>
            <a:xfrm rot="10800000" flipV="1">
              <a:off x="4393323" y="325817"/>
              <a:ext cx="3405352" cy="2443655"/>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grpSp>
      <p:sp>
        <p:nvSpPr>
          <p:cNvPr id="17" name="TextBox 16">
            <a:extLst>
              <a:ext uri="{FF2B5EF4-FFF2-40B4-BE49-F238E27FC236}">
                <a16:creationId xmlns:a16="http://schemas.microsoft.com/office/drawing/2014/main" id="{B4E7EF1E-6CE8-01D8-342B-82B8FEE87B09}"/>
              </a:ext>
            </a:extLst>
          </p:cNvPr>
          <p:cNvSpPr txBox="1"/>
          <p:nvPr/>
        </p:nvSpPr>
        <p:spPr>
          <a:xfrm>
            <a:off x="9401503" y="5641821"/>
            <a:ext cx="1108841" cy="830997"/>
          </a:xfrm>
          <a:prstGeom prst="rect">
            <a:avLst/>
          </a:prstGeom>
          <a:noFill/>
        </p:spPr>
        <p:txBody>
          <a:bodyPr wrap="square" rtlCol="0">
            <a:spAutoFit/>
          </a:bodyPr>
          <a:lstStyle/>
          <a:p>
            <a:r>
              <a:rPr lang="en-IL" sz="2400" dirty="0"/>
              <a:t>3, (1,0,0)</a:t>
            </a:r>
          </a:p>
        </p:txBody>
      </p:sp>
      <p:sp>
        <p:nvSpPr>
          <p:cNvPr id="20" name="TextBox 19">
            <a:extLst>
              <a:ext uri="{FF2B5EF4-FFF2-40B4-BE49-F238E27FC236}">
                <a16:creationId xmlns:a16="http://schemas.microsoft.com/office/drawing/2014/main" id="{A156B550-4CDB-EDA0-BD65-7E4CC711B2CE}"/>
              </a:ext>
            </a:extLst>
          </p:cNvPr>
          <p:cNvSpPr txBox="1"/>
          <p:nvPr/>
        </p:nvSpPr>
        <p:spPr>
          <a:xfrm>
            <a:off x="5662447" y="523675"/>
            <a:ext cx="1702676" cy="461665"/>
          </a:xfrm>
          <a:prstGeom prst="rect">
            <a:avLst/>
          </a:prstGeom>
          <a:noFill/>
        </p:spPr>
        <p:txBody>
          <a:bodyPr wrap="square" rtlCol="0">
            <a:spAutoFit/>
          </a:bodyPr>
          <a:lstStyle/>
          <a:p>
            <a:r>
              <a:rPr lang="en-IL" sz="2400" dirty="0"/>
              <a:t>5, (0.5, 1,0)</a:t>
            </a:r>
          </a:p>
        </p:txBody>
      </p:sp>
      <p:sp>
        <p:nvSpPr>
          <p:cNvPr id="21" name="TextBox 20">
            <a:extLst>
              <a:ext uri="{FF2B5EF4-FFF2-40B4-BE49-F238E27FC236}">
                <a16:creationId xmlns:a16="http://schemas.microsoft.com/office/drawing/2014/main" id="{8EC04A63-EEBE-3AE0-D44E-8935786B9F91}"/>
              </a:ext>
            </a:extLst>
          </p:cNvPr>
          <p:cNvSpPr txBox="1"/>
          <p:nvPr/>
        </p:nvSpPr>
        <p:spPr>
          <a:xfrm>
            <a:off x="7698827" y="2967334"/>
            <a:ext cx="1702676" cy="830997"/>
          </a:xfrm>
          <a:prstGeom prst="rect">
            <a:avLst/>
          </a:prstGeom>
          <a:noFill/>
        </p:spPr>
        <p:txBody>
          <a:bodyPr wrap="square" rtlCol="0">
            <a:spAutoFit/>
          </a:bodyPr>
          <a:lstStyle/>
          <a:p>
            <a:r>
              <a:rPr lang="en-IL" sz="2400" dirty="0"/>
              <a:t>4, (0.75, 0.5, 0)</a:t>
            </a:r>
          </a:p>
        </p:txBody>
      </p:sp>
      <p:sp>
        <p:nvSpPr>
          <p:cNvPr id="22" name="TextBox 21">
            <a:extLst>
              <a:ext uri="{FF2B5EF4-FFF2-40B4-BE49-F238E27FC236}">
                <a16:creationId xmlns:a16="http://schemas.microsoft.com/office/drawing/2014/main" id="{25CFC6AB-1472-CEE9-78D9-C775C9865F8F}"/>
              </a:ext>
            </a:extLst>
          </p:cNvPr>
          <p:cNvSpPr txBox="1"/>
          <p:nvPr/>
        </p:nvSpPr>
        <p:spPr>
          <a:xfrm>
            <a:off x="3034861" y="2967333"/>
            <a:ext cx="2309651" cy="461665"/>
          </a:xfrm>
          <a:prstGeom prst="rect">
            <a:avLst/>
          </a:prstGeom>
          <a:noFill/>
        </p:spPr>
        <p:txBody>
          <a:bodyPr wrap="square" rtlCol="0">
            <a:spAutoFit/>
          </a:bodyPr>
          <a:lstStyle/>
          <a:p>
            <a:r>
              <a:rPr lang="en-IL" sz="2400" dirty="0"/>
              <a:t>6, (0.25, 0.5, 0)</a:t>
            </a:r>
          </a:p>
        </p:txBody>
      </p:sp>
      <p:sp>
        <p:nvSpPr>
          <p:cNvPr id="23" name="TextBox 22">
            <a:extLst>
              <a:ext uri="{FF2B5EF4-FFF2-40B4-BE49-F238E27FC236}">
                <a16:creationId xmlns:a16="http://schemas.microsoft.com/office/drawing/2014/main" id="{164E0B79-9733-B136-45A5-8569F072D908}"/>
              </a:ext>
            </a:extLst>
          </p:cNvPr>
          <p:cNvSpPr txBox="1"/>
          <p:nvPr/>
        </p:nvSpPr>
        <p:spPr>
          <a:xfrm>
            <a:off x="5662447" y="6011153"/>
            <a:ext cx="2036380" cy="461665"/>
          </a:xfrm>
          <a:prstGeom prst="rect">
            <a:avLst/>
          </a:prstGeom>
          <a:noFill/>
        </p:spPr>
        <p:txBody>
          <a:bodyPr wrap="square" rtlCol="0">
            <a:spAutoFit/>
          </a:bodyPr>
          <a:lstStyle/>
          <a:p>
            <a:r>
              <a:rPr lang="en-IL" sz="2400" dirty="0"/>
              <a:t>2, (0.5, 0, 0)</a:t>
            </a:r>
          </a:p>
        </p:txBody>
      </p:sp>
      <p:sp>
        <p:nvSpPr>
          <p:cNvPr id="24" name="TextBox 23">
            <a:extLst>
              <a:ext uri="{FF2B5EF4-FFF2-40B4-BE49-F238E27FC236}">
                <a16:creationId xmlns:a16="http://schemas.microsoft.com/office/drawing/2014/main" id="{89D3C5C2-C1A7-BEEB-4E1A-F80F312F7EEE}"/>
              </a:ext>
            </a:extLst>
          </p:cNvPr>
          <p:cNvSpPr txBox="1"/>
          <p:nvPr/>
        </p:nvSpPr>
        <p:spPr>
          <a:xfrm>
            <a:off x="3982106" y="5918821"/>
            <a:ext cx="993227" cy="400110"/>
          </a:xfrm>
          <a:prstGeom prst="rect">
            <a:avLst/>
          </a:prstGeom>
          <a:noFill/>
        </p:spPr>
        <p:txBody>
          <a:bodyPr wrap="square" rtlCol="0">
            <a:spAutoFit/>
          </a:bodyPr>
          <a:lstStyle/>
          <a:p>
            <a:r>
              <a:rPr lang="en-IL" sz="2000" b="1" dirty="0">
                <a:solidFill>
                  <a:srgbClr val="FF0000"/>
                </a:solidFill>
              </a:rPr>
              <a:t>1</a:t>
            </a:r>
          </a:p>
        </p:txBody>
      </p:sp>
      <p:sp>
        <p:nvSpPr>
          <p:cNvPr id="25" name="TextBox 24">
            <a:extLst>
              <a:ext uri="{FF2B5EF4-FFF2-40B4-BE49-F238E27FC236}">
                <a16:creationId xmlns:a16="http://schemas.microsoft.com/office/drawing/2014/main" id="{E1E7FE25-5F43-9763-5F6D-16A4EE66734D}"/>
              </a:ext>
            </a:extLst>
          </p:cNvPr>
          <p:cNvSpPr txBox="1"/>
          <p:nvPr/>
        </p:nvSpPr>
        <p:spPr>
          <a:xfrm>
            <a:off x="7739553" y="5912011"/>
            <a:ext cx="993227" cy="400110"/>
          </a:xfrm>
          <a:prstGeom prst="rect">
            <a:avLst/>
          </a:prstGeom>
          <a:noFill/>
        </p:spPr>
        <p:txBody>
          <a:bodyPr wrap="square" rtlCol="0">
            <a:spAutoFit/>
          </a:bodyPr>
          <a:lstStyle/>
          <a:p>
            <a:r>
              <a:rPr lang="en-IL" sz="2000" b="1" dirty="0">
                <a:solidFill>
                  <a:srgbClr val="FF0000"/>
                </a:solidFill>
              </a:rPr>
              <a:t>2</a:t>
            </a:r>
          </a:p>
        </p:txBody>
      </p:sp>
      <p:sp>
        <p:nvSpPr>
          <p:cNvPr id="26" name="TextBox 25">
            <a:extLst>
              <a:ext uri="{FF2B5EF4-FFF2-40B4-BE49-F238E27FC236}">
                <a16:creationId xmlns:a16="http://schemas.microsoft.com/office/drawing/2014/main" id="{174D8873-DBF3-8C7F-613B-114D93EA2E94}"/>
              </a:ext>
            </a:extLst>
          </p:cNvPr>
          <p:cNvSpPr txBox="1"/>
          <p:nvPr/>
        </p:nvSpPr>
        <p:spPr>
          <a:xfrm>
            <a:off x="8611911" y="4319966"/>
            <a:ext cx="993227" cy="400110"/>
          </a:xfrm>
          <a:prstGeom prst="rect">
            <a:avLst/>
          </a:prstGeom>
          <a:noFill/>
        </p:spPr>
        <p:txBody>
          <a:bodyPr wrap="square" rtlCol="0">
            <a:spAutoFit/>
          </a:bodyPr>
          <a:lstStyle/>
          <a:p>
            <a:r>
              <a:rPr lang="en-IL" sz="2000" b="1" dirty="0">
                <a:solidFill>
                  <a:srgbClr val="FF0000"/>
                </a:solidFill>
              </a:rPr>
              <a:t>3</a:t>
            </a:r>
          </a:p>
        </p:txBody>
      </p:sp>
      <p:sp>
        <p:nvSpPr>
          <p:cNvPr id="27" name="TextBox 26">
            <a:extLst>
              <a:ext uri="{FF2B5EF4-FFF2-40B4-BE49-F238E27FC236}">
                <a16:creationId xmlns:a16="http://schemas.microsoft.com/office/drawing/2014/main" id="{6A759BE3-4F79-A811-11E4-40CF33D0FC4F}"/>
              </a:ext>
            </a:extLst>
          </p:cNvPr>
          <p:cNvSpPr txBox="1"/>
          <p:nvPr/>
        </p:nvSpPr>
        <p:spPr>
          <a:xfrm>
            <a:off x="6868509" y="1995251"/>
            <a:ext cx="993227" cy="400110"/>
          </a:xfrm>
          <a:prstGeom prst="rect">
            <a:avLst/>
          </a:prstGeom>
          <a:noFill/>
        </p:spPr>
        <p:txBody>
          <a:bodyPr wrap="square" rtlCol="0">
            <a:spAutoFit/>
          </a:bodyPr>
          <a:lstStyle/>
          <a:p>
            <a:r>
              <a:rPr lang="en-IL" sz="2000" b="1" dirty="0">
                <a:solidFill>
                  <a:srgbClr val="FF0000"/>
                </a:solidFill>
              </a:rPr>
              <a:t>4</a:t>
            </a:r>
          </a:p>
        </p:txBody>
      </p:sp>
      <p:sp>
        <p:nvSpPr>
          <p:cNvPr id="28" name="TextBox 27">
            <a:extLst>
              <a:ext uri="{FF2B5EF4-FFF2-40B4-BE49-F238E27FC236}">
                <a16:creationId xmlns:a16="http://schemas.microsoft.com/office/drawing/2014/main" id="{41AEC89C-B637-BB32-C6A2-3FEA0F9D4D05}"/>
              </a:ext>
            </a:extLst>
          </p:cNvPr>
          <p:cNvSpPr txBox="1"/>
          <p:nvPr/>
        </p:nvSpPr>
        <p:spPr>
          <a:xfrm>
            <a:off x="4550978" y="1850349"/>
            <a:ext cx="993227" cy="400110"/>
          </a:xfrm>
          <a:prstGeom prst="rect">
            <a:avLst/>
          </a:prstGeom>
          <a:noFill/>
        </p:spPr>
        <p:txBody>
          <a:bodyPr wrap="square" rtlCol="0">
            <a:spAutoFit/>
          </a:bodyPr>
          <a:lstStyle/>
          <a:p>
            <a:r>
              <a:rPr lang="en-IL" sz="2000" b="1" dirty="0">
                <a:solidFill>
                  <a:srgbClr val="FF0000"/>
                </a:solidFill>
              </a:rPr>
              <a:t>5</a:t>
            </a:r>
          </a:p>
        </p:txBody>
      </p:sp>
      <p:sp>
        <p:nvSpPr>
          <p:cNvPr id="29" name="TextBox 28">
            <a:extLst>
              <a:ext uri="{FF2B5EF4-FFF2-40B4-BE49-F238E27FC236}">
                <a16:creationId xmlns:a16="http://schemas.microsoft.com/office/drawing/2014/main" id="{CD07AD2A-9653-AD76-D2A6-6C5AB10104B9}"/>
              </a:ext>
            </a:extLst>
          </p:cNvPr>
          <p:cNvSpPr txBox="1"/>
          <p:nvPr/>
        </p:nvSpPr>
        <p:spPr>
          <a:xfrm>
            <a:off x="2887716" y="4319966"/>
            <a:ext cx="993227" cy="400110"/>
          </a:xfrm>
          <a:prstGeom prst="rect">
            <a:avLst/>
          </a:prstGeom>
          <a:noFill/>
        </p:spPr>
        <p:txBody>
          <a:bodyPr wrap="square" rtlCol="0">
            <a:spAutoFit/>
          </a:bodyPr>
          <a:lstStyle/>
          <a:p>
            <a:r>
              <a:rPr lang="en-IL" sz="2000" b="1" dirty="0">
                <a:solidFill>
                  <a:srgbClr val="FF0000"/>
                </a:solidFill>
              </a:rPr>
              <a:t>6</a:t>
            </a:r>
          </a:p>
        </p:txBody>
      </p:sp>
      <p:sp>
        <p:nvSpPr>
          <p:cNvPr id="30" name="TextBox 29">
            <a:extLst>
              <a:ext uri="{FF2B5EF4-FFF2-40B4-BE49-F238E27FC236}">
                <a16:creationId xmlns:a16="http://schemas.microsoft.com/office/drawing/2014/main" id="{8D9982D0-423F-203F-9473-6A338CFC58F7}"/>
              </a:ext>
            </a:extLst>
          </p:cNvPr>
          <p:cNvSpPr txBox="1"/>
          <p:nvPr/>
        </p:nvSpPr>
        <p:spPr>
          <a:xfrm>
            <a:off x="4640318" y="4644017"/>
            <a:ext cx="993227" cy="400110"/>
          </a:xfrm>
          <a:prstGeom prst="rect">
            <a:avLst/>
          </a:prstGeom>
          <a:noFill/>
        </p:spPr>
        <p:txBody>
          <a:bodyPr wrap="square" rtlCol="0">
            <a:spAutoFit/>
          </a:bodyPr>
          <a:lstStyle/>
          <a:p>
            <a:r>
              <a:rPr lang="en-IL" sz="2000" b="1" dirty="0">
                <a:solidFill>
                  <a:srgbClr val="FF0000"/>
                </a:solidFill>
              </a:rPr>
              <a:t>7</a:t>
            </a:r>
          </a:p>
        </p:txBody>
      </p:sp>
      <p:sp>
        <p:nvSpPr>
          <p:cNvPr id="31" name="TextBox 30">
            <a:extLst>
              <a:ext uri="{FF2B5EF4-FFF2-40B4-BE49-F238E27FC236}">
                <a16:creationId xmlns:a16="http://schemas.microsoft.com/office/drawing/2014/main" id="{EDF87CFC-7265-2051-79DF-44A2305ED6A9}"/>
              </a:ext>
            </a:extLst>
          </p:cNvPr>
          <p:cNvSpPr txBox="1"/>
          <p:nvPr/>
        </p:nvSpPr>
        <p:spPr>
          <a:xfrm>
            <a:off x="6773915" y="4644017"/>
            <a:ext cx="993227" cy="400110"/>
          </a:xfrm>
          <a:prstGeom prst="rect">
            <a:avLst/>
          </a:prstGeom>
          <a:noFill/>
        </p:spPr>
        <p:txBody>
          <a:bodyPr wrap="square" rtlCol="0">
            <a:spAutoFit/>
          </a:bodyPr>
          <a:lstStyle/>
          <a:p>
            <a:r>
              <a:rPr lang="en-IL" sz="2000" b="1" dirty="0">
                <a:solidFill>
                  <a:srgbClr val="FF0000"/>
                </a:solidFill>
              </a:rPr>
              <a:t>8</a:t>
            </a:r>
          </a:p>
        </p:txBody>
      </p:sp>
      <p:sp>
        <p:nvSpPr>
          <p:cNvPr id="32" name="TextBox 31">
            <a:extLst>
              <a:ext uri="{FF2B5EF4-FFF2-40B4-BE49-F238E27FC236}">
                <a16:creationId xmlns:a16="http://schemas.microsoft.com/office/drawing/2014/main" id="{E4CE80B9-760D-8D01-0E83-AD1EE672628E}"/>
              </a:ext>
            </a:extLst>
          </p:cNvPr>
          <p:cNvSpPr txBox="1"/>
          <p:nvPr/>
        </p:nvSpPr>
        <p:spPr>
          <a:xfrm>
            <a:off x="5682154" y="2967333"/>
            <a:ext cx="993227" cy="400110"/>
          </a:xfrm>
          <a:prstGeom prst="rect">
            <a:avLst/>
          </a:prstGeom>
          <a:noFill/>
        </p:spPr>
        <p:txBody>
          <a:bodyPr wrap="square" rtlCol="0">
            <a:spAutoFit/>
          </a:bodyPr>
          <a:lstStyle/>
          <a:p>
            <a:r>
              <a:rPr lang="en-IL" sz="2000" b="1" dirty="0">
                <a:solidFill>
                  <a:srgbClr val="FF0000"/>
                </a:solidFill>
              </a:rPr>
              <a:t>9</a:t>
            </a:r>
          </a:p>
        </p:txBody>
      </p:sp>
      <p:sp>
        <p:nvSpPr>
          <p:cNvPr id="33" name="TextBox 32">
            <a:extLst>
              <a:ext uri="{FF2B5EF4-FFF2-40B4-BE49-F238E27FC236}">
                <a16:creationId xmlns:a16="http://schemas.microsoft.com/office/drawing/2014/main" id="{7AED5B90-47E2-CC78-B6D5-F759E6C3B144}"/>
              </a:ext>
            </a:extLst>
          </p:cNvPr>
          <p:cNvSpPr txBox="1"/>
          <p:nvPr/>
        </p:nvSpPr>
        <p:spPr>
          <a:xfrm>
            <a:off x="3974225" y="4720076"/>
            <a:ext cx="484785" cy="584775"/>
          </a:xfrm>
          <a:prstGeom prst="rect">
            <a:avLst/>
          </a:prstGeom>
          <a:noFill/>
        </p:spPr>
        <p:txBody>
          <a:bodyPr wrap="square" rtlCol="0">
            <a:spAutoFit/>
          </a:bodyPr>
          <a:lstStyle/>
          <a:p>
            <a:r>
              <a:rPr lang="en-IL" sz="3200" b="1" dirty="0">
                <a:solidFill>
                  <a:schemeClr val="accent1"/>
                </a:solidFill>
              </a:rPr>
              <a:t>1</a:t>
            </a:r>
          </a:p>
        </p:txBody>
      </p:sp>
      <p:sp>
        <p:nvSpPr>
          <p:cNvPr id="34" name="TextBox 33">
            <a:extLst>
              <a:ext uri="{FF2B5EF4-FFF2-40B4-BE49-F238E27FC236}">
                <a16:creationId xmlns:a16="http://schemas.microsoft.com/office/drawing/2014/main" id="{6315F600-19CE-33F6-E9BD-4213B269E05A}"/>
              </a:ext>
            </a:extLst>
          </p:cNvPr>
          <p:cNvSpPr txBox="1"/>
          <p:nvPr/>
        </p:nvSpPr>
        <p:spPr>
          <a:xfrm>
            <a:off x="7365122" y="4651927"/>
            <a:ext cx="484785" cy="584775"/>
          </a:xfrm>
          <a:prstGeom prst="rect">
            <a:avLst/>
          </a:prstGeom>
          <a:noFill/>
        </p:spPr>
        <p:txBody>
          <a:bodyPr wrap="square" rtlCol="0">
            <a:spAutoFit/>
          </a:bodyPr>
          <a:lstStyle/>
          <a:p>
            <a:r>
              <a:rPr lang="en-IL" sz="3200" b="1" dirty="0">
                <a:solidFill>
                  <a:schemeClr val="accent1"/>
                </a:solidFill>
              </a:rPr>
              <a:t>2</a:t>
            </a:r>
          </a:p>
        </p:txBody>
      </p:sp>
      <p:sp>
        <p:nvSpPr>
          <p:cNvPr id="35" name="TextBox 34">
            <a:extLst>
              <a:ext uri="{FF2B5EF4-FFF2-40B4-BE49-F238E27FC236}">
                <a16:creationId xmlns:a16="http://schemas.microsoft.com/office/drawing/2014/main" id="{C0A9E7F5-A728-72C0-488A-D2D1C9EF6C2E}"/>
              </a:ext>
            </a:extLst>
          </p:cNvPr>
          <p:cNvSpPr txBox="1"/>
          <p:nvPr/>
        </p:nvSpPr>
        <p:spPr>
          <a:xfrm>
            <a:off x="5625659" y="2068720"/>
            <a:ext cx="484785" cy="584775"/>
          </a:xfrm>
          <a:prstGeom prst="rect">
            <a:avLst/>
          </a:prstGeom>
          <a:noFill/>
        </p:spPr>
        <p:txBody>
          <a:bodyPr wrap="square" rtlCol="0">
            <a:spAutoFit/>
          </a:bodyPr>
          <a:lstStyle/>
          <a:p>
            <a:r>
              <a:rPr lang="en-IL" sz="3200" b="1" dirty="0">
                <a:solidFill>
                  <a:schemeClr val="accent1"/>
                </a:solidFill>
              </a:rPr>
              <a:t>3</a:t>
            </a:r>
          </a:p>
        </p:txBody>
      </p:sp>
      <p:sp>
        <p:nvSpPr>
          <p:cNvPr id="36" name="TextBox 35">
            <a:extLst>
              <a:ext uri="{FF2B5EF4-FFF2-40B4-BE49-F238E27FC236}">
                <a16:creationId xmlns:a16="http://schemas.microsoft.com/office/drawing/2014/main" id="{F0ADBF80-E851-42B7-CBE1-24136F0BCD32}"/>
              </a:ext>
            </a:extLst>
          </p:cNvPr>
          <p:cNvSpPr txBox="1"/>
          <p:nvPr/>
        </p:nvSpPr>
        <p:spPr>
          <a:xfrm>
            <a:off x="5662447" y="4050711"/>
            <a:ext cx="484785" cy="584775"/>
          </a:xfrm>
          <a:prstGeom prst="rect">
            <a:avLst/>
          </a:prstGeom>
          <a:noFill/>
        </p:spPr>
        <p:txBody>
          <a:bodyPr wrap="square" rtlCol="0">
            <a:spAutoFit/>
          </a:bodyPr>
          <a:lstStyle/>
          <a:p>
            <a:r>
              <a:rPr lang="en-IL" sz="3200" b="1" dirty="0">
                <a:solidFill>
                  <a:schemeClr val="accent1"/>
                </a:solidFill>
              </a:rPr>
              <a:t>4</a:t>
            </a:r>
          </a:p>
        </p:txBody>
      </p:sp>
    </p:spTree>
    <p:extLst>
      <p:ext uri="{BB962C8B-B14F-4D97-AF65-F5344CB8AC3E}">
        <p14:creationId xmlns:p14="http://schemas.microsoft.com/office/powerpoint/2010/main" val="3235283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A786E-E953-9AC3-796F-DABA1FBDDD40}"/>
              </a:ext>
            </a:extLst>
          </p:cNvPr>
          <p:cNvSpPr>
            <a:spLocks noGrp="1"/>
          </p:cNvSpPr>
          <p:nvPr>
            <p:ph type="title"/>
          </p:nvPr>
        </p:nvSpPr>
        <p:spPr/>
        <p:txBody>
          <a:bodyPr/>
          <a:lstStyle/>
          <a:p>
            <a:endParaRPr lang="en-IL" dirty="0"/>
          </a:p>
        </p:txBody>
      </p:sp>
      <p:sp>
        <p:nvSpPr>
          <p:cNvPr id="3" name="Content Placeholder 2">
            <a:extLst>
              <a:ext uri="{FF2B5EF4-FFF2-40B4-BE49-F238E27FC236}">
                <a16:creationId xmlns:a16="http://schemas.microsoft.com/office/drawing/2014/main" id="{9A648F71-9EFD-90D9-6D60-09C8ED66C35A}"/>
              </a:ext>
            </a:extLst>
          </p:cNvPr>
          <p:cNvSpPr>
            <a:spLocks noGrp="1"/>
          </p:cNvSpPr>
          <p:nvPr>
            <p:ph idx="1"/>
          </p:nvPr>
        </p:nvSpPr>
        <p:spPr/>
        <p:txBody>
          <a:bodyPr>
            <a:normAutofit fontScale="85000" lnSpcReduction="10000"/>
          </a:bodyPr>
          <a:lstStyle/>
          <a:p>
            <a:r>
              <a:rPr lang="en-US" dirty="0"/>
              <a:t>“Refinement” of a triangulation refers to creating a new triangulation by subdividing each triangle of the original triangulation. The scheme used in the Evolver is to create new vertices at the midpoints of all edges and use these to subdivide each facet into four new facets each similar to the original. (See the Technical Reference chapter for simplex refinement.)</a:t>
            </a:r>
          </a:p>
          <a:p>
            <a:r>
              <a:rPr lang="en-US" dirty="0"/>
              <a:t>Certain attributes of new elements are inherited from the old elements in which they were created. Fixedness, constraints, and boundaries are always inherited. Torus wrapping on edges is inherited by some but not all new edges. Surface tension and </a:t>
            </a:r>
            <a:r>
              <a:rPr lang="en-US" dirty="0" err="1"/>
              <a:t>displayability</a:t>
            </a:r>
            <a:r>
              <a:rPr lang="en-US" dirty="0"/>
              <a:t> are inherited by the new facets. ‘Extra’ attributes are inherited by the same type of element.</a:t>
            </a:r>
          </a:p>
          <a:p>
            <a:r>
              <a:rPr lang="en-US" dirty="0"/>
              <a:t>Refinement can change surface area and energy if there are curved constraints or boundaries. Likewise for body volumes</a:t>
            </a:r>
          </a:p>
          <a:p>
            <a:pPr marL="0" indent="0">
              <a:buNone/>
            </a:pPr>
            <a:r>
              <a:rPr lang="en-IL" dirty="0"/>
              <a:t>So, in the case of an initial square facet, it is triangulated with </a:t>
            </a:r>
          </a:p>
          <a:p>
            <a:pPr marL="0" indent="0">
              <a:buNone/>
            </a:pPr>
            <a:endParaRPr lang="en-IL" dirty="0"/>
          </a:p>
        </p:txBody>
      </p:sp>
    </p:spTree>
    <p:extLst>
      <p:ext uri="{BB962C8B-B14F-4D97-AF65-F5344CB8AC3E}">
        <p14:creationId xmlns:p14="http://schemas.microsoft.com/office/powerpoint/2010/main" val="23116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1BA6A-5872-68D6-8AA9-E40241B22A0E}"/>
              </a:ext>
            </a:extLst>
          </p:cNvPr>
          <p:cNvSpPr>
            <a:spLocks noGrp="1"/>
          </p:cNvSpPr>
          <p:nvPr>
            <p:ph type="title"/>
          </p:nvPr>
        </p:nvSpPr>
        <p:spPr/>
        <p:txBody>
          <a:bodyPr/>
          <a:lstStyle/>
          <a:p>
            <a:r>
              <a:rPr lang="en-IL" dirty="0"/>
              <a:t>Triangulation when extra vertex is on straight line</a:t>
            </a:r>
          </a:p>
        </p:txBody>
      </p:sp>
      <p:sp>
        <p:nvSpPr>
          <p:cNvPr id="13" name="Content Placeholder 12">
            <a:extLst>
              <a:ext uri="{FF2B5EF4-FFF2-40B4-BE49-F238E27FC236}">
                <a16:creationId xmlns:a16="http://schemas.microsoft.com/office/drawing/2014/main" id="{A40AAD66-17FA-FF17-9592-8CF86221F031}"/>
              </a:ext>
            </a:extLst>
          </p:cNvPr>
          <p:cNvSpPr>
            <a:spLocks noGrp="1"/>
          </p:cNvSpPr>
          <p:nvPr>
            <p:ph idx="1"/>
          </p:nvPr>
        </p:nvSpPr>
        <p:spPr>
          <a:xfrm>
            <a:off x="838200" y="1825625"/>
            <a:ext cx="5006854" cy="2163051"/>
          </a:xfrm>
        </p:spPr>
        <p:txBody>
          <a:bodyPr/>
          <a:lstStyle/>
          <a:p>
            <a:r>
              <a:rPr lang="en-IL" dirty="0"/>
              <a:t>Result is similar to sqaure initial triangulation whith new vertex in the center</a:t>
            </a:r>
          </a:p>
        </p:txBody>
      </p:sp>
      <p:grpSp>
        <p:nvGrpSpPr>
          <p:cNvPr id="14" name="Group 13">
            <a:extLst>
              <a:ext uri="{FF2B5EF4-FFF2-40B4-BE49-F238E27FC236}">
                <a16:creationId xmlns:a16="http://schemas.microsoft.com/office/drawing/2014/main" id="{D5290087-B740-993F-CD1F-1CDBFEF86E40}"/>
              </a:ext>
            </a:extLst>
          </p:cNvPr>
          <p:cNvGrpSpPr/>
          <p:nvPr/>
        </p:nvGrpSpPr>
        <p:grpSpPr>
          <a:xfrm>
            <a:off x="4357841" y="1510041"/>
            <a:ext cx="7434767" cy="4666922"/>
            <a:chOff x="4909634" y="1461344"/>
            <a:chExt cx="7434767" cy="4666922"/>
          </a:xfrm>
        </p:grpSpPr>
        <p:sp>
          <p:nvSpPr>
            <p:cNvPr id="4" name="Triangle 3">
              <a:extLst>
                <a:ext uri="{FF2B5EF4-FFF2-40B4-BE49-F238E27FC236}">
                  <a16:creationId xmlns:a16="http://schemas.microsoft.com/office/drawing/2014/main" id="{2F04FD68-68EA-27BF-ADFF-ABB1100EBF6D}"/>
                </a:ext>
              </a:extLst>
            </p:cNvPr>
            <p:cNvSpPr/>
            <p:nvPr/>
          </p:nvSpPr>
          <p:spPr>
            <a:xfrm>
              <a:off x="5089634" y="1690688"/>
              <a:ext cx="6264166" cy="3838902"/>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sp>
          <p:nvSpPr>
            <p:cNvPr id="5" name="Oval 4">
              <a:extLst>
                <a:ext uri="{FF2B5EF4-FFF2-40B4-BE49-F238E27FC236}">
                  <a16:creationId xmlns:a16="http://schemas.microsoft.com/office/drawing/2014/main" id="{30936587-259E-8AA0-7E11-7D7EC1627A82}"/>
                </a:ext>
              </a:extLst>
            </p:cNvPr>
            <p:cNvSpPr/>
            <p:nvPr/>
          </p:nvSpPr>
          <p:spPr>
            <a:xfrm>
              <a:off x="4909634" y="5349590"/>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Oval 5">
              <a:extLst>
                <a:ext uri="{FF2B5EF4-FFF2-40B4-BE49-F238E27FC236}">
                  <a16:creationId xmlns:a16="http://schemas.microsoft.com/office/drawing/2014/main" id="{7635E742-AA2D-260E-C59B-526892F5B9CF}"/>
                </a:ext>
              </a:extLst>
            </p:cNvPr>
            <p:cNvSpPr/>
            <p:nvPr/>
          </p:nvSpPr>
          <p:spPr>
            <a:xfrm>
              <a:off x="11173800" y="5349590"/>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Oval 6">
              <a:extLst>
                <a:ext uri="{FF2B5EF4-FFF2-40B4-BE49-F238E27FC236}">
                  <a16:creationId xmlns:a16="http://schemas.microsoft.com/office/drawing/2014/main" id="{793D3CE4-F766-DDF3-A866-50ED517F7586}"/>
                </a:ext>
              </a:extLst>
            </p:cNvPr>
            <p:cNvSpPr/>
            <p:nvPr/>
          </p:nvSpPr>
          <p:spPr>
            <a:xfrm>
              <a:off x="8041717" y="1517267"/>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Oval 7">
              <a:extLst>
                <a:ext uri="{FF2B5EF4-FFF2-40B4-BE49-F238E27FC236}">
                  <a16:creationId xmlns:a16="http://schemas.microsoft.com/office/drawing/2014/main" id="{B29DC104-2BDC-290A-D63E-2B7A84F52A03}"/>
                </a:ext>
              </a:extLst>
            </p:cNvPr>
            <p:cNvSpPr/>
            <p:nvPr/>
          </p:nvSpPr>
          <p:spPr>
            <a:xfrm>
              <a:off x="8041717" y="5379819"/>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Box 8">
              <a:extLst>
                <a:ext uri="{FF2B5EF4-FFF2-40B4-BE49-F238E27FC236}">
                  <a16:creationId xmlns:a16="http://schemas.microsoft.com/office/drawing/2014/main" id="{2141E681-C40C-AE0E-59DD-F1C66859128E}"/>
                </a:ext>
              </a:extLst>
            </p:cNvPr>
            <p:cNvSpPr txBox="1"/>
            <p:nvPr/>
          </p:nvSpPr>
          <p:spPr>
            <a:xfrm>
              <a:off x="4909634" y="5758934"/>
              <a:ext cx="1487213" cy="369332"/>
            </a:xfrm>
            <a:prstGeom prst="rect">
              <a:avLst/>
            </a:prstGeom>
            <a:noFill/>
          </p:spPr>
          <p:txBody>
            <a:bodyPr wrap="square" rtlCol="0">
              <a:spAutoFit/>
            </a:bodyPr>
            <a:lstStyle/>
            <a:p>
              <a:r>
                <a:rPr lang="en-IL" dirty="0"/>
                <a:t>1 (0,0,0)</a:t>
              </a:r>
            </a:p>
          </p:txBody>
        </p:sp>
        <p:sp>
          <p:nvSpPr>
            <p:cNvPr id="10" name="TextBox 9">
              <a:extLst>
                <a:ext uri="{FF2B5EF4-FFF2-40B4-BE49-F238E27FC236}">
                  <a16:creationId xmlns:a16="http://schemas.microsoft.com/office/drawing/2014/main" id="{FFB8EB4B-E543-C988-900C-32E4FE251EF3}"/>
                </a:ext>
              </a:extLst>
            </p:cNvPr>
            <p:cNvSpPr txBox="1"/>
            <p:nvPr/>
          </p:nvSpPr>
          <p:spPr>
            <a:xfrm>
              <a:off x="8066668" y="5758934"/>
              <a:ext cx="1487213" cy="369332"/>
            </a:xfrm>
            <a:prstGeom prst="rect">
              <a:avLst/>
            </a:prstGeom>
            <a:noFill/>
          </p:spPr>
          <p:txBody>
            <a:bodyPr wrap="square" rtlCol="0">
              <a:spAutoFit/>
            </a:bodyPr>
            <a:lstStyle/>
            <a:p>
              <a:r>
                <a:rPr lang="en-IL" dirty="0"/>
                <a:t>2</a:t>
              </a:r>
              <a:r>
                <a:rPr lang="en-IL"/>
                <a:t> </a:t>
              </a:r>
              <a:r>
                <a:rPr lang="en-IL" dirty="0"/>
                <a:t>(0,0,0.5)</a:t>
              </a:r>
            </a:p>
          </p:txBody>
        </p:sp>
        <p:sp>
          <p:nvSpPr>
            <p:cNvPr id="11" name="TextBox 10">
              <a:extLst>
                <a:ext uri="{FF2B5EF4-FFF2-40B4-BE49-F238E27FC236}">
                  <a16:creationId xmlns:a16="http://schemas.microsoft.com/office/drawing/2014/main" id="{157020C9-1E9D-4F4F-C685-B74C82F31F03}"/>
                </a:ext>
              </a:extLst>
            </p:cNvPr>
            <p:cNvSpPr txBox="1"/>
            <p:nvPr/>
          </p:nvSpPr>
          <p:spPr>
            <a:xfrm>
              <a:off x="11315647" y="5758934"/>
              <a:ext cx="1028754" cy="369332"/>
            </a:xfrm>
            <a:prstGeom prst="rect">
              <a:avLst/>
            </a:prstGeom>
            <a:noFill/>
          </p:spPr>
          <p:txBody>
            <a:bodyPr wrap="square" rtlCol="0">
              <a:spAutoFit/>
            </a:bodyPr>
            <a:lstStyle/>
            <a:p>
              <a:r>
                <a:rPr lang="en-IL" dirty="0"/>
                <a:t>3 (0,0,1)</a:t>
              </a:r>
            </a:p>
          </p:txBody>
        </p:sp>
        <p:sp>
          <p:nvSpPr>
            <p:cNvPr id="12" name="TextBox 11">
              <a:extLst>
                <a:ext uri="{FF2B5EF4-FFF2-40B4-BE49-F238E27FC236}">
                  <a16:creationId xmlns:a16="http://schemas.microsoft.com/office/drawing/2014/main" id="{8E9315F8-B840-ED66-B678-4C1314310FEA}"/>
                </a:ext>
              </a:extLst>
            </p:cNvPr>
            <p:cNvSpPr txBox="1"/>
            <p:nvPr/>
          </p:nvSpPr>
          <p:spPr>
            <a:xfrm>
              <a:off x="8581717" y="1461344"/>
              <a:ext cx="1487213" cy="369332"/>
            </a:xfrm>
            <a:prstGeom prst="rect">
              <a:avLst/>
            </a:prstGeom>
            <a:noFill/>
          </p:spPr>
          <p:txBody>
            <a:bodyPr wrap="square" rtlCol="0">
              <a:spAutoFit/>
            </a:bodyPr>
            <a:lstStyle/>
            <a:p>
              <a:r>
                <a:rPr lang="en-IL" dirty="0"/>
                <a:t>4 (0,1,0)</a:t>
              </a:r>
            </a:p>
          </p:txBody>
        </p:sp>
      </p:grpSp>
    </p:spTree>
    <p:extLst>
      <p:ext uri="{BB962C8B-B14F-4D97-AF65-F5344CB8AC3E}">
        <p14:creationId xmlns:p14="http://schemas.microsoft.com/office/powerpoint/2010/main" val="1720508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4816</TotalTime>
  <Words>292</Words>
  <Application>Microsoft Macintosh PowerPoint</Application>
  <PresentationFormat>Widescreen</PresentationFormat>
  <Paragraphs>57</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Triangulation when extra vertex is on straight 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Avishai Barnoy</dc:creator>
  <cp:lastModifiedBy>Avishai Barnoy</cp:lastModifiedBy>
  <cp:revision>9</cp:revision>
  <dcterms:created xsi:type="dcterms:W3CDTF">2025-07-03T10:23:24Z</dcterms:created>
  <dcterms:modified xsi:type="dcterms:W3CDTF">2025-07-06T18:39:47Z</dcterms:modified>
</cp:coreProperties>
</file>